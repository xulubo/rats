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sldIdLst>
    <p:sldId id="256" r:id="rId2"/>
    <p:sldId id="261" r:id="rId3"/>
    <p:sldId id="258" r:id="rId4"/>
    <p:sldId id="259" r:id="rId5"/>
    <p:sldId id="285" r:id="rId6"/>
    <p:sldId id="260" r:id="rId7"/>
    <p:sldId id="289" r:id="rId8"/>
    <p:sldId id="290" r:id="rId9"/>
    <p:sldId id="278" r:id="rId10"/>
    <p:sldId id="279" r:id="rId11"/>
    <p:sldId id="280" r:id="rId12"/>
    <p:sldId id="281" r:id="rId13"/>
    <p:sldId id="283" r:id="rId14"/>
    <p:sldId id="284" r:id="rId15"/>
    <p:sldId id="286" r:id="rId16"/>
    <p:sldId id="277" r:id="rId17"/>
    <p:sldId id="288" r:id="rId18"/>
    <p:sldId id="287" r:id="rId19"/>
    <p:sldId id="26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0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qpLogo-AllWhite.pdf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6" y="6291468"/>
            <a:ext cx="1789412" cy="4481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3016672"/>
            <a:ext cx="8148321" cy="1348432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371600" y="4538685"/>
            <a:ext cx="6400800" cy="1579019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122295" y="-112888"/>
            <a:ext cx="9388592" cy="263407"/>
          </a:xfrm>
          <a:prstGeom prst="rect">
            <a:avLst/>
          </a:prstGeom>
          <a:solidFill>
            <a:srgbClr val="000000">
              <a:alpha val="55000"/>
            </a:srgbClr>
          </a:solidFill>
          <a:ln w="38100">
            <a:noFill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pic>
        <p:nvPicPr>
          <p:cNvPr id="6" name="Picture 5" descr="qpLogo-AllWhite.pdf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920" y="1668650"/>
            <a:ext cx="4886960" cy="1223974"/>
          </a:xfrm>
          <a:prstGeom prst="rect">
            <a:avLst/>
          </a:prstGeom>
        </p:spPr>
      </p:pic>
      <p:sp>
        <p:nvSpPr>
          <p:cNvPr id="16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bg1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35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5001419"/>
          </a:xfrm>
        </p:spPr>
        <p:txBody>
          <a:bodyPr/>
          <a:lstStyle>
            <a:lvl1pPr marL="3810" indent="0">
              <a:buFontTx/>
              <a:buNone/>
              <a:defRPr sz="2800" b="0" i="0"/>
            </a:lvl1pPr>
            <a:lvl2pPr>
              <a:buSzPct val="110000"/>
              <a:defRPr/>
            </a:lvl2pPr>
            <a:lvl3pPr>
              <a:buSzPct val="50000"/>
              <a:defRPr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‹#›</a:t>
            </a:fld>
            <a:endParaRPr lang="en-US" sz="1400"/>
          </a:p>
        </p:txBody>
      </p:sp>
      <p:pic>
        <p:nvPicPr>
          <p:cNvPr id="5" name="Picture 4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600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78092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920436"/>
            <a:ext cx="7772400" cy="1500187"/>
          </a:xfrm>
        </p:spPr>
        <p:txBody>
          <a:bodyPr anchor="t" anchorCtr="0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qpLogo-Colour.pdf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493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4" y="1124745"/>
            <a:ext cx="4125913" cy="5001419"/>
          </a:xfrm>
        </p:spPr>
        <p:txBody>
          <a:bodyPr/>
          <a:lstStyle>
            <a:lvl1pPr>
              <a:defRPr sz="2800" b="0" i="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787900" y="1268415"/>
            <a:ext cx="3898900" cy="4392612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  <p:pic>
        <p:nvPicPr>
          <p:cNvPr id="7" name="Picture 6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582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01419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6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Line Title and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4" y="1417638"/>
            <a:ext cx="4125913" cy="5001419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859338" y="1417639"/>
            <a:ext cx="3827462" cy="4532312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  <p:pic>
        <p:nvPicPr>
          <p:cNvPr id="7" name="Picture 6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394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2"/>
          </p:nvPr>
        </p:nvSpPr>
        <p:spPr>
          <a:xfrm>
            <a:off x="457200" y="1109665"/>
            <a:ext cx="8229600" cy="5005387"/>
          </a:xfr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smtClean="0"/>
              <a:t>Click icon to add table</a:t>
            </a:r>
            <a:endParaRPr lang="en-US"/>
          </a:p>
        </p:txBody>
      </p:sp>
      <p:pic>
        <p:nvPicPr>
          <p:cNvPr id="5" name="Picture 4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6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932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r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3410"/>
            <a:ext cx="8229600" cy="5001419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230208"/>
            <a:ext cx="8229600" cy="719139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717301"/>
            <a:ext cx="8229600" cy="850107"/>
          </a:xfrm>
        </p:spPr>
        <p:txBody>
          <a:bodyPr/>
          <a:lstStyle>
            <a:lvl1pPr>
              <a:lnSpc>
                <a:spcPct val="80000"/>
              </a:lnSpc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7" name="Picture 6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583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rtitle and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4" y="1403410"/>
            <a:ext cx="4125913" cy="5001419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787900" y="1412777"/>
            <a:ext cx="3898900" cy="4751387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717301"/>
            <a:ext cx="8229600" cy="850107"/>
          </a:xfrm>
        </p:spPr>
        <p:txBody>
          <a:bodyPr/>
          <a:lstStyle>
            <a:lvl1pPr>
              <a:lnSpc>
                <a:spcPct val="80000"/>
              </a:lnSpc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230208"/>
            <a:ext cx="8229600" cy="719139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7" name="Picture 6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46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1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1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95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Sur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12777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777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717301"/>
            <a:ext cx="8229600" cy="850107"/>
          </a:xfrm>
        </p:spPr>
        <p:txBody>
          <a:bodyPr/>
          <a:lstStyle>
            <a:lvl1pPr>
              <a:lnSpc>
                <a:spcPct val="80000"/>
              </a:lnSpc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230208"/>
            <a:ext cx="8229600" cy="719139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947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6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853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ith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979977"/>
            <a:ext cx="8229600" cy="719139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  <p:pic>
        <p:nvPicPr>
          <p:cNvPr id="8" name="Picture 7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44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811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33805B-D05D-6947-AECC-E863CE543C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360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r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230208"/>
            <a:ext cx="8229600" cy="719139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717301"/>
            <a:ext cx="8229600" cy="850107"/>
          </a:xfrm>
        </p:spPr>
        <p:txBody>
          <a:bodyPr/>
          <a:lstStyle>
            <a:lvl1pPr>
              <a:lnSpc>
                <a:spcPct val="80000"/>
              </a:lnSpc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10" name="Picture 9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303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457643" y="2612294"/>
            <a:ext cx="2026568" cy="3284028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  <a:alpha val="37000"/>
                </a:schemeClr>
              </a:gs>
            </a:gsLst>
            <a:lin ang="17100000" scaled="0"/>
            <a:tileRect/>
          </a:gradFill>
          <a:ln w="38100">
            <a:solidFill>
              <a:schemeClr val="bg1"/>
            </a:solidFill>
          </a:ln>
          <a:effectLst>
            <a:outerShdw blurRad="63500" dist="38100" dir="5400000" algn="tl" rotWithShape="0">
              <a:srgbClr val="000000">
                <a:alpha val="27000"/>
              </a:srgbClr>
            </a:outerShdw>
          </a:effectLst>
        </p:spPr>
        <p:txBody>
          <a:bodyPr lIns="14400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457644" y="1196753"/>
            <a:ext cx="2026568" cy="1343531"/>
          </a:xfrm>
          <a:solidFill>
            <a:schemeClr val="tx1"/>
          </a:solidFill>
        </p:spPr>
        <p:txBody>
          <a:bodyPr lIns="144000" tIns="93600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556435" y="1196753"/>
            <a:ext cx="2026568" cy="1343531"/>
          </a:xfrm>
          <a:solidFill>
            <a:schemeClr val="tx1"/>
          </a:solidFill>
        </p:spPr>
        <p:txBody>
          <a:bodyPr lIns="144000" tIns="93600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4644451" y="1196753"/>
            <a:ext cx="2026568" cy="1343531"/>
          </a:xfrm>
          <a:solidFill>
            <a:schemeClr val="tx1"/>
          </a:solidFill>
        </p:spPr>
        <p:txBody>
          <a:bodyPr lIns="144000" tIns="93600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6743242" y="1196753"/>
            <a:ext cx="2026568" cy="1343531"/>
          </a:xfrm>
          <a:solidFill>
            <a:schemeClr val="tx1"/>
          </a:solidFill>
        </p:spPr>
        <p:txBody>
          <a:bodyPr lIns="144000" tIns="93600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7" name="Content Placeholder 3"/>
          <p:cNvSpPr>
            <a:spLocks noGrp="1"/>
          </p:cNvSpPr>
          <p:nvPr>
            <p:ph sz="half" idx="19"/>
          </p:nvPr>
        </p:nvSpPr>
        <p:spPr>
          <a:xfrm>
            <a:off x="2545875" y="2612294"/>
            <a:ext cx="2026568" cy="3284028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  <a:alpha val="37000"/>
                </a:schemeClr>
              </a:gs>
            </a:gsLst>
            <a:lin ang="17100000" scaled="0"/>
            <a:tileRect/>
          </a:gradFill>
          <a:ln w="38100">
            <a:solidFill>
              <a:schemeClr val="bg1"/>
            </a:solidFill>
          </a:ln>
          <a:effectLst>
            <a:outerShdw blurRad="63500" dist="38100" dir="5400000" algn="tl" rotWithShape="0">
              <a:srgbClr val="000000">
                <a:alpha val="27000"/>
              </a:srgbClr>
            </a:outerShdw>
          </a:effectLst>
        </p:spPr>
        <p:txBody>
          <a:bodyPr lIns="14400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8" name="Content Placeholder 3"/>
          <p:cNvSpPr>
            <a:spLocks noGrp="1"/>
          </p:cNvSpPr>
          <p:nvPr>
            <p:ph sz="half" idx="20"/>
          </p:nvPr>
        </p:nvSpPr>
        <p:spPr>
          <a:xfrm>
            <a:off x="4644451" y="2612294"/>
            <a:ext cx="2026568" cy="3284028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  <a:alpha val="37000"/>
                </a:schemeClr>
              </a:gs>
            </a:gsLst>
            <a:lin ang="17100000" scaled="0"/>
            <a:tileRect/>
          </a:gradFill>
          <a:ln w="38100">
            <a:solidFill>
              <a:schemeClr val="bg1"/>
            </a:solidFill>
          </a:ln>
          <a:effectLst>
            <a:outerShdw blurRad="63500" dist="38100" dir="5400000" algn="tl" rotWithShape="0">
              <a:srgbClr val="000000">
                <a:alpha val="27000"/>
              </a:srgbClr>
            </a:outerShdw>
          </a:effectLst>
        </p:spPr>
        <p:txBody>
          <a:bodyPr lIns="14400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9" name="Content Placeholder 3"/>
          <p:cNvSpPr>
            <a:spLocks noGrp="1"/>
          </p:cNvSpPr>
          <p:nvPr>
            <p:ph sz="half" idx="21"/>
          </p:nvPr>
        </p:nvSpPr>
        <p:spPr>
          <a:xfrm>
            <a:off x="6732683" y="2612294"/>
            <a:ext cx="2026568" cy="3284028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  <a:alpha val="37000"/>
                </a:schemeClr>
              </a:gs>
            </a:gsLst>
            <a:lin ang="17100000" scaled="0"/>
            <a:tileRect/>
          </a:gradFill>
          <a:ln w="38100">
            <a:solidFill>
              <a:schemeClr val="bg1"/>
            </a:solidFill>
          </a:ln>
          <a:effectLst>
            <a:outerShdw blurRad="63500" dist="38100" dir="5400000" algn="tl" rotWithShape="0">
              <a:srgbClr val="000000">
                <a:alpha val="27000"/>
              </a:srgbClr>
            </a:outerShdw>
          </a:effectLst>
        </p:spPr>
        <p:txBody>
          <a:bodyPr lIns="14400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2" name="Picture 11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7780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12292"/>
            <a:ext cx="2653952" cy="3328587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  <a:alpha val="37000"/>
                </a:schemeClr>
              </a:gs>
            </a:gsLst>
            <a:lin ang="17100000" scaled="0"/>
            <a:tileRect/>
          </a:gradFill>
          <a:ln w="38100">
            <a:solidFill>
              <a:schemeClr val="bg1"/>
            </a:solidFill>
          </a:ln>
          <a:effectLst>
            <a:outerShdw blurRad="63500" dist="38100" dir="5400000" algn="tl" rotWithShape="0">
              <a:srgbClr val="000000">
                <a:alpha val="27000"/>
              </a:srgbClr>
            </a:outerShdw>
          </a:effectLst>
        </p:spPr>
        <p:txBody>
          <a:bodyPr lIns="14400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457201" y="1196753"/>
            <a:ext cx="2653952" cy="1343531"/>
          </a:xfrm>
          <a:solidFill>
            <a:schemeClr val="tx1"/>
          </a:solidFill>
        </p:spPr>
        <p:txBody>
          <a:bodyPr lIns="144000" tIns="93600" rIns="144000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45024" y="1196753"/>
            <a:ext cx="2653952" cy="1343531"/>
          </a:xfrm>
          <a:solidFill>
            <a:schemeClr val="tx1"/>
          </a:solidFill>
        </p:spPr>
        <p:txBody>
          <a:bodyPr lIns="144000" tIns="93600" rIns="144000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6010480" y="1196753"/>
            <a:ext cx="2653952" cy="1343531"/>
          </a:xfrm>
          <a:solidFill>
            <a:schemeClr val="tx1"/>
          </a:solidFill>
        </p:spPr>
        <p:txBody>
          <a:bodyPr lIns="144000" tIns="93600" rIns="144000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9"/>
          </p:nvPr>
        </p:nvSpPr>
        <p:spPr>
          <a:xfrm>
            <a:off x="3234464" y="2612292"/>
            <a:ext cx="2653952" cy="3328587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  <a:alpha val="37000"/>
                </a:schemeClr>
              </a:gs>
            </a:gsLst>
            <a:lin ang="17100000" scaled="0"/>
            <a:tileRect/>
          </a:gradFill>
          <a:ln w="38100">
            <a:solidFill>
              <a:schemeClr val="bg1"/>
            </a:solidFill>
          </a:ln>
          <a:effectLst>
            <a:outerShdw blurRad="63500" dist="38100" dir="5400000" algn="tl" rotWithShape="0">
              <a:srgbClr val="000000">
                <a:alpha val="27000"/>
              </a:srgbClr>
            </a:outerShdw>
          </a:effectLst>
        </p:spPr>
        <p:txBody>
          <a:bodyPr lIns="14400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0"/>
          </p:nvPr>
        </p:nvSpPr>
        <p:spPr>
          <a:xfrm>
            <a:off x="6010480" y="2612292"/>
            <a:ext cx="2653952" cy="3328587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  <a:alpha val="37000"/>
                </a:schemeClr>
              </a:gs>
            </a:gsLst>
            <a:lin ang="17100000" scaled="0"/>
            <a:tileRect/>
          </a:gradFill>
          <a:ln w="38100">
            <a:solidFill>
              <a:schemeClr val="bg1"/>
            </a:solidFill>
          </a:ln>
          <a:effectLst>
            <a:outerShdw blurRad="63500" dist="38100" dir="5400000" algn="tl" rotWithShape="0">
              <a:srgbClr val="000000">
                <a:alpha val="27000"/>
              </a:srgbClr>
            </a:outerShdw>
          </a:effectLst>
        </p:spPr>
        <p:txBody>
          <a:bodyPr lIns="14400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1" name="Picture 10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486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2085146" y="1196754"/>
            <a:ext cx="6635079" cy="1004815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>
                <a:alpha val="57000"/>
              </a:schemeClr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lIns="216000" tIns="0" bIns="46800" anchor="ctr" anchorCtr="0">
            <a:normAutofit/>
          </a:bodyPr>
          <a:lstStyle>
            <a:lvl1pPr marL="504000" algn="l">
              <a:lnSpc>
                <a:spcPts val="1300"/>
              </a:lnSpc>
              <a:spcBef>
                <a:spcPts val="0"/>
              </a:spcBef>
              <a:defRPr sz="1200" b="0" i="0" baseline="0">
                <a:solidFill>
                  <a:schemeClr val="tx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1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1196754"/>
            <a:ext cx="2096988" cy="1004815"/>
          </a:xfrm>
          <a:prstGeom prst="homePlat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6"/>
              </a:gs>
            </a:gsLst>
            <a:lin ang="16200000" scaled="0"/>
            <a:tileRect/>
          </a:gradFill>
          <a:ln w="38100">
            <a:solidFill>
              <a:schemeClr val="bg1"/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wrap="square" tIns="0" bIns="0" anchor="ctr" anchorCtr="1">
            <a:normAutofit/>
          </a:bodyPr>
          <a:lstStyle>
            <a:lvl1pPr marL="0" algn="l">
              <a:lnSpc>
                <a:spcPts val="2000"/>
              </a:lnSpc>
              <a:spcBef>
                <a:spcPts val="0"/>
              </a:spcBef>
              <a:defRPr sz="2400" b="0" i="0" baseline="0">
                <a:solidFill>
                  <a:schemeClr val="bg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1</a:t>
            </a:r>
            <a:endParaRPr lang="en-US" dirty="0"/>
          </a:p>
        </p:txBody>
      </p:sp>
      <p:sp>
        <p:nvSpPr>
          <p:cNvPr id="3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2085146" y="2345583"/>
            <a:ext cx="6635079" cy="1004815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>
                <a:alpha val="57000"/>
              </a:schemeClr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0">
            <a:normAutofit/>
          </a:bodyPr>
          <a:lstStyle>
            <a:lvl1pPr marL="720000" algn="l">
              <a:lnSpc>
                <a:spcPts val="1300"/>
              </a:lnSpc>
              <a:spcBef>
                <a:spcPts val="0"/>
              </a:spcBef>
              <a:defRPr sz="1200" b="0" i="0" baseline="0">
                <a:solidFill>
                  <a:schemeClr val="tx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2</a:t>
            </a:r>
            <a:endParaRPr lang="en-US" dirty="0"/>
          </a:p>
        </p:txBody>
      </p:sp>
      <p:sp>
        <p:nvSpPr>
          <p:cNvPr id="35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2345583"/>
            <a:ext cx="2096988" cy="1004815"/>
          </a:xfrm>
          <a:prstGeom prst="homePlat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6"/>
              </a:gs>
            </a:gsLst>
            <a:lin ang="16200000" scaled="0"/>
            <a:tileRect/>
          </a:gradFill>
          <a:ln w="38100">
            <a:solidFill>
              <a:schemeClr val="bg1"/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1">
            <a:normAutofit/>
          </a:bodyPr>
          <a:lstStyle>
            <a:lvl1pPr marL="504000" algn="l">
              <a:lnSpc>
                <a:spcPts val="2000"/>
              </a:lnSpc>
              <a:spcBef>
                <a:spcPts val="0"/>
              </a:spcBef>
              <a:defRPr sz="2400" b="0" i="0" baseline="0">
                <a:solidFill>
                  <a:schemeClr val="bg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2</a:t>
            </a:r>
            <a:endParaRPr lang="en-US" dirty="0"/>
          </a:p>
        </p:txBody>
      </p:sp>
      <p:sp>
        <p:nvSpPr>
          <p:cNvPr id="36" name="Text Placeholder 15"/>
          <p:cNvSpPr>
            <a:spLocks noGrp="1"/>
          </p:cNvSpPr>
          <p:nvPr>
            <p:ph type="body" sz="quarter" idx="25" hasCustomPrompt="1"/>
          </p:nvPr>
        </p:nvSpPr>
        <p:spPr>
          <a:xfrm>
            <a:off x="2085146" y="3497711"/>
            <a:ext cx="6635079" cy="1004815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>
                <a:alpha val="57000"/>
              </a:schemeClr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0">
            <a:normAutofit/>
          </a:bodyPr>
          <a:lstStyle>
            <a:lvl1pPr marL="720000" algn="l">
              <a:lnSpc>
                <a:spcPts val="1300"/>
              </a:lnSpc>
              <a:spcBef>
                <a:spcPts val="0"/>
              </a:spcBef>
              <a:defRPr sz="1200" b="0" i="0" baseline="0">
                <a:solidFill>
                  <a:schemeClr val="tx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3</a:t>
            </a:r>
            <a:endParaRPr lang="en-US" dirty="0"/>
          </a:p>
        </p:txBody>
      </p:sp>
      <p:sp>
        <p:nvSpPr>
          <p:cNvPr id="37" name="Text Placeholder 15"/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3497711"/>
            <a:ext cx="2096988" cy="1004815"/>
          </a:xfrm>
          <a:prstGeom prst="homePlat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6"/>
              </a:gs>
            </a:gsLst>
            <a:lin ang="16200000" scaled="0"/>
            <a:tileRect/>
          </a:gradFill>
          <a:ln w="38100">
            <a:solidFill>
              <a:schemeClr val="bg1"/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1">
            <a:normAutofit/>
          </a:bodyPr>
          <a:lstStyle>
            <a:lvl1pPr marL="504000" algn="l">
              <a:lnSpc>
                <a:spcPts val="2000"/>
              </a:lnSpc>
              <a:spcBef>
                <a:spcPts val="0"/>
              </a:spcBef>
              <a:defRPr sz="2400" b="0" i="0" baseline="0">
                <a:solidFill>
                  <a:schemeClr val="bg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3</a:t>
            </a:r>
            <a:endParaRPr lang="en-US" dirty="0"/>
          </a:p>
        </p:txBody>
      </p:sp>
      <p:sp>
        <p:nvSpPr>
          <p:cNvPr id="38" name="Text Placeholder 15"/>
          <p:cNvSpPr>
            <a:spLocks noGrp="1"/>
          </p:cNvSpPr>
          <p:nvPr>
            <p:ph type="body" sz="quarter" idx="27" hasCustomPrompt="1"/>
          </p:nvPr>
        </p:nvSpPr>
        <p:spPr>
          <a:xfrm>
            <a:off x="2085146" y="4649839"/>
            <a:ext cx="6635079" cy="1004815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>
                <a:alpha val="57000"/>
              </a:schemeClr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0">
            <a:normAutofit/>
          </a:bodyPr>
          <a:lstStyle>
            <a:lvl1pPr marL="720000" algn="l">
              <a:lnSpc>
                <a:spcPts val="1300"/>
              </a:lnSpc>
              <a:spcBef>
                <a:spcPts val="0"/>
              </a:spcBef>
              <a:defRPr sz="1200" b="0" i="0" baseline="0">
                <a:solidFill>
                  <a:schemeClr val="tx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4</a:t>
            </a:r>
            <a:endParaRPr lang="en-US" dirty="0"/>
          </a:p>
        </p:txBody>
      </p:sp>
      <p:sp>
        <p:nvSpPr>
          <p:cNvPr id="39" name="Text Placeholder 15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649839"/>
            <a:ext cx="2096988" cy="1004815"/>
          </a:xfrm>
          <a:prstGeom prst="homePlat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6"/>
              </a:gs>
            </a:gsLst>
            <a:lin ang="16200000" scaled="0"/>
            <a:tileRect/>
          </a:gradFill>
          <a:ln w="38100">
            <a:solidFill>
              <a:schemeClr val="bg1"/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1">
            <a:normAutofit/>
          </a:bodyPr>
          <a:lstStyle>
            <a:lvl1pPr marL="504000" algn="l">
              <a:lnSpc>
                <a:spcPts val="2000"/>
              </a:lnSpc>
              <a:spcBef>
                <a:spcPts val="0"/>
              </a:spcBef>
              <a:defRPr sz="2400" b="0" i="0" baseline="0">
                <a:solidFill>
                  <a:schemeClr val="bg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4</a:t>
            </a:r>
            <a:endParaRPr lang="en-US" dirty="0"/>
          </a:p>
        </p:txBody>
      </p:sp>
      <p:pic>
        <p:nvPicPr>
          <p:cNvPr id="12" name="Picture 11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5599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2085146" y="1196755"/>
            <a:ext cx="6635079" cy="830621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>
                <a:alpha val="57000"/>
              </a:schemeClr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lIns="216000" tIns="0" bIns="46800" anchor="ctr" anchorCtr="0">
            <a:normAutofit/>
          </a:bodyPr>
          <a:lstStyle>
            <a:lvl1pPr marL="504000" algn="l">
              <a:lnSpc>
                <a:spcPts val="1300"/>
              </a:lnSpc>
              <a:spcBef>
                <a:spcPts val="0"/>
              </a:spcBef>
              <a:defRPr sz="1200" b="0" i="0" baseline="0">
                <a:solidFill>
                  <a:schemeClr val="tx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1</a:t>
            </a:r>
            <a:endParaRPr lang="en-US" dirty="0"/>
          </a:p>
        </p:txBody>
      </p:sp>
      <p:sp>
        <p:nvSpPr>
          <p:cNvPr id="29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1196755"/>
            <a:ext cx="2096988" cy="830621"/>
          </a:xfrm>
          <a:prstGeom prst="homePlat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6"/>
              </a:gs>
            </a:gsLst>
            <a:lin ang="16200000" scaled="0"/>
            <a:tileRect/>
          </a:gradFill>
          <a:ln w="38100">
            <a:solidFill>
              <a:schemeClr val="bg1"/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wrap="square" tIns="0" bIns="0" anchor="ctr" anchorCtr="1">
            <a:normAutofit/>
          </a:bodyPr>
          <a:lstStyle>
            <a:lvl1pPr marL="0" algn="l">
              <a:lnSpc>
                <a:spcPts val="2000"/>
              </a:lnSpc>
              <a:spcBef>
                <a:spcPts val="0"/>
              </a:spcBef>
              <a:defRPr sz="2400" b="0" i="0" baseline="0">
                <a:solidFill>
                  <a:schemeClr val="bg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1</a:t>
            </a:r>
            <a:endParaRPr lang="en-US" dirty="0"/>
          </a:p>
        </p:txBody>
      </p:sp>
      <p:sp>
        <p:nvSpPr>
          <p:cNvPr id="30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2085146" y="2175900"/>
            <a:ext cx="6635079" cy="830621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>
                <a:alpha val="57000"/>
              </a:schemeClr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0">
            <a:normAutofit/>
          </a:bodyPr>
          <a:lstStyle>
            <a:lvl1pPr marL="720000" algn="l">
              <a:lnSpc>
                <a:spcPts val="1300"/>
              </a:lnSpc>
              <a:spcBef>
                <a:spcPts val="0"/>
              </a:spcBef>
              <a:defRPr sz="1200" b="0" i="0" baseline="0">
                <a:solidFill>
                  <a:schemeClr val="tx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2</a:t>
            </a:r>
            <a:endParaRPr lang="en-US" dirty="0"/>
          </a:p>
        </p:txBody>
      </p:sp>
      <p:sp>
        <p:nvSpPr>
          <p:cNvPr id="31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2175900"/>
            <a:ext cx="2096988" cy="830621"/>
          </a:xfrm>
          <a:prstGeom prst="homePlat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6"/>
              </a:gs>
            </a:gsLst>
            <a:lin ang="16200000" scaled="0"/>
            <a:tileRect/>
          </a:gradFill>
          <a:ln w="38100">
            <a:solidFill>
              <a:schemeClr val="bg1"/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1">
            <a:normAutofit/>
          </a:bodyPr>
          <a:lstStyle>
            <a:lvl1pPr marL="504000" algn="l">
              <a:lnSpc>
                <a:spcPts val="2000"/>
              </a:lnSpc>
              <a:spcBef>
                <a:spcPts val="0"/>
              </a:spcBef>
              <a:defRPr sz="2400" b="0" i="0" baseline="0">
                <a:solidFill>
                  <a:schemeClr val="bg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2</a:t>
            </a:r>
            <a:endParaRPr lang="en-US" dirty="0"/>
          </a:p>
        </p:txBody>
      </p:sp>
      <p:sp>
        <p:nvSpPr>
          <p:cNvPr id="32" name="Text Placeholder 15"/>
          <p:cNvSpPr>
            <a:spLocks noGrp="1"/>
          </p:cNvSpPr>
          <p:nvPr>
            <p:ph type="body" sz="quarter" idx="25" hasCustomPrompt="1"/>
          </p:nvPr>
        </p:nvSpPr>
        <p:spPr>
          <a:xfrm>
            <a:off x="2085146" y="3156112"/>
            <a:ext cx="6635079" cy="830621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>
                <a:alpha val="57000"/>
              </a:schemeClr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0">
            <a:normAutofit/>
          </a:bodyPr>
          <a:lstStyle>
            <a:lvl1pPr marL="720000" algn="l">
              <a:lnSpc>
                <a:spcPts val="1300"/>
              </a:lnSpc>
              <a:spcBef>
                <a:spcPts val="0"/>
              </a:spcBef>
              <a:defRPr sz="1200" b="0" i="0" baseline="0">
                <a:solidFill>
                  <a:schemeClr val="tx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3</a:t>
            </a:r>
            <a:endParaRPr lang="en-US" dirty="0"/>
          </a:p>
        </p:txBody>
      </p:sp>
      <p:sp>
        <p:nvSpPr>
          <p:cNvPr id="40" name="Text Placeholder 15"/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3156112"/>
            <a:ext cx="2096988" cy="830621"/>
          </a:xfrm>
          <a:prstGeom prst="homePlat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6"/>
              </a:gs>
            </a:gsLst>
            <a:lin ang="16200000" scaled="0"/>
            <a:tileRect/>
          </a:gradFill>
          <a:ln w="38100">
            <a:solidFill>
              <a:schemeClr val="bg1"/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1">
            <a:normAutofit/>
          </a:bodyPr>
          <a:lstStyle>
            <a:lvl1pPr marL="504000" algn="l">
              <a:lnSpc>
                <a:spcPts val="2000"/>
              </a:lnSpc>
              <a:spcBef>
                <a:spcPts val="0"/>
              </a:spcBef>
              <a:defRPr sz="2400" b="0" i="0" baseline="0">
                <a:solidFill>
                  <a:schemeClr val="bg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3</a:t>
            </a:r>
            <a:endParaRPr lang="en-US" dirty="0"/>
          </a:p>
        </p:txBody>
      </p:sp>
      <p:sp>
        <p:nvSpPr>
          <p:cNvPr id="41" name="Text Placeholder 15"/>
          <p:cNvSpPr>
            <a:spLocks noGrp="1"/>
          </p:cNvSpPr>
          <p:nvPr>
            <p:ph type="body" sz="quarter" idx="27" hasCustomPrompt="1"/>
          </p:nvPr>
        </p:nvSpPr>
        <p:spPr>
          <a:xfrm>
            <a:off x="2085146" y="4144872"/>
            <a:ext cx="6635079" cy="830621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>
                <a:alpha val="57000"/>
              </a:schemeClr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0">
            <a:normAutofit/>
          </a:bodyPr>
          <a:lstStyle>
            <a:lvl1pPr marL="720000" algn="l">
              <a:lnSpc>
                <a:spcPts val="1300"/>
              </a:lnSpc>
              <a:spcBef>
                <a:spcPts val="0"/>
              </a:spcBef>
              <a:defRPr sz="1200" b="0" i="0" baseline="0">
                <a:solidFill>
                  <a:schemeClr val="tx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4</a:t>
            </a:r>
            <a:endParaRPr lang="en-US" dirty="0"/>
          </a:p>
        </p:txBody>
      </p:sp>
      <p:sp>
        <p:nvSpPr>
          <p:cNvPr id="42" name="Text Placeholder 15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144872"/>
            <a:ext cx="2096988" cy="830621"/>
          </a:xfrm>
          <a:prstGeom prst="homePlat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6"/>
              </a:gs>
            </a:gsLst>
            <a:lin ang="16200000" scaled="0"/>
            <a:tileRect/>
          </a:gradFill>
          <a:ln w="38100">
            <a:solidFill>
              <a:schemeClr val="bg1"/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1">
            <a:normAutofit/>
          </a:bodyPr>
          <a:lstStyle>
            <a:lvl1pPr marL="504000" algn="l">
              <a:lnSpc>
                <a:spcPts val="2000"/>
              </a:lnSpc>
              <a:spcBef>
                <a:spcPts val="0"/>
              </a:spcBef>
              <a:defRPr sz="2400" b="0" i="0" baseline="0">
                <a:solidFill>
                  <a:schemeClr val="bg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4</a:t>
            </a:r>
            <a:endParaRPr lang="en-US" dirty="0"/>
          </a:p>
        </p:txBody>
      </p:sp>
      <p:sp>
        <p:nvSpPr>
          <p:cNvPr id="43" name="Text Placeholder 15"/>
          <p:cNvSpPr>
            <a:spLocks noGrp="1"/>
          </p:cNvSpPr>
          <p:nvPr>
            <p:ph type="body" sz="quarter" idx="29" hasCustomPrompt="1"/>
          </p:nvPr>
        </p:nvSpPr>
        <p:spPr>
          <a:xfrm>
            <a:off x="2085146" y="5139576"/>
            <a:ext cx="6635079" cy="830621"/>
          </a:xfr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>
                <a:alpha val="57000"/>
              </a:schemeClr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0">
            <a:normAutofit/>
          </a:bodyPr>
          <a:lstStyle>
            <a:lvl1pPr marL="720000" algn="l">
              <a:lnSpc>
                <a:spcPts val="1300"/>
              </a:lnSpc>
              <a:spcBef>
                <a:spcPts val="0"/>
              </a:spcBef>
              <a:defRPr sz="1200" b="0" i="0" baseline="0">
                <a:solidFill>
                  <a:schemeClr val="tx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5</a:t>
            </a:r>
            <a:endParaRPr lang="en-US" dirty="0"/>
          </a:p>
        </p:txBody>
      </p:sp>
      <p:sp>
        <p:nvSpPr>
          <p:cNvPr id="44" name="Text Placeholder 15"/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5139576"/>
            <a:ext cx="2096988" cy="830621"/>
          </a:xfrm>
          <a:prstGeom prst="homePlat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6"/>
              </a:gs>
            </a:gsLst>
            <a:lin ang="16200000" scaled="0"/>
            <a:tileRect/>
          </a:gradFill>
          <a:ln w="38100">
            <a:solidFill>
              <a:schemeClr val="bg1"/>
            </a:solidFill>
          </a:ln>
          <a:effectLst>
            <a:outerShdw blurRad="50800" dist="25400" dir="5400000" algn="tl" rotWithShape="0">
              <a:srgbClr val="000000">
                <a:alpha val="24000"/>
              </a:srgbClr>
            </a:outerShdw>
          </a:effectLst>
        </p:spPr>
        <p:txBody>
          <a:bodyPr tIns="0" bIns="0" anchor="ctr" anchorCtr="1">
            <a:normAutofit/>
          </a:bodyPr>
          <a:lstStyle>
            <a:lvl1pPr marL="504000" algn="l">
              <a:lnSpc>
                <a:spcPts val="2000"/>
              </a:lnSpc>
              <a:spcBef>
                <a:spcPts val="0"/>
              </a:spcBef>
              <a:defRPr sz="2400" b="0" i="0" baseline="0">
                <a:solidFill>
                  <a:schemeClr val="bg1"/>
                </a:solidFill>
              </a:defRPr>
            </a:lvl1pPr>
            <a:lvl2pPr algn="ctr">
              <a:defRPr sz="1200" b="0" i="0" baseline="0">
                <a:solidFill>
                  <a:schemeClr val="bg1"/>
                </a:solidFill>
              </a:defRPr>
            </a:lvl2pPr>
            <a:lvl3pPr algn="ctr">
              <a:defRPr sz="1200" b="0" i="0" baseline="0">
                <a:solidFill>
                  <a:schemeClr val="bg1"/>
                </a:solidFill>
              </a:defRPr>
            </a:lvl3pPr>
            <a:lvl4pPr algn="ctr">
              <a:defRPr sz="1200" b="0" i="0" baseline="0">
                <a:solidFill>
                  <a:schemeClr val="bg1"/>
                </a:solidFill>
              </a:defRPr>
            </a:lvl4pPr>
            <a:lvl5pPr algn="ctr">
              <a:defRPr sz="1200" b="0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 smtClean="0"/>
              <a:t>Box 5</a:t>
            </a:r>
            <a:endParaRPr lang="en-US" dirty="0"/>
          </a:p>
        </p:txBody>
      </p:sp>
      <p:pic>
        <p:nvPicPr>
          <p:cNvPr id="14" name="Picture 13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15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828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963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191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0540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 smtClean="0"/>
              <a:t>Color Boxes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6008803" y="2174099"/>
            <a:ext cx="858521" cy="624944"/>
          </a:xfrm>
          <a:prstGeom prst="downArrow">
            <a:avLst/>
          </a:prstGeom>
          <a:gradFill flip="none" rotWithShape="1">
            <a:gsLst>
              <a:gs pos="0">
                <a:srgbClr val="002F5D"/>
              </a:gs>
              <a:gs pos="100000">
                <a:srgbClr val="004080"/>
              </a:gs>
            </a:gsLst>
            <a:lin ang="16200000" scaled="0"/>
            <a:tileRect/>
          </a:gradFill>
          <a:ln w="38100"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073668" y="1407426"/>
            <a:ext cx="1488010" cy="62507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Label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33647" y="1407426"/>
            <a:ext cx="1380173" cy="625076"/>
          </a:xfrm>
          <a:prstGeom prst="rect">
            <a:avLst/>
          </a:prstGeom>
          <a:gradFill flip="none" rotWithShape="1">
            <a:gsLst>
              <a:gs pos="0">
                <a:srgbClr val="800000"/>
              </a:gs>
              <a:gs pos="100000">
                <a:schemeClr val="tx2"/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/>
              <a:t>Label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285591" y="1407426"/>
            <a:ext cx="1269494" cy="62507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/>
              <a:t>Label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65918" y="5180980"/>
            <a:ext cx="1374819" cy="413269"/>
          </a:xfrm>
          <a:prstGeom prst="rect">
            <a:avLst/>
          </a:prstGeom>
          <a:gradFill flip="none" rotWithShape="1">
            <a:gsLst>
              <a:gs pos="100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 w="12700" cmpd="sng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ln>
                  <a:noFill/>
                </a:ln>
              </a:rPr>
              <a:t>No Outline</a:t>
            </a:r>
            <a:endParaRPr lang="en-US" dirty="0">
              <a:ln>
                <a:noFill/>
              </a:ln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575231" y="5180979"/>
            <a:ext cx="1292093" cy="413271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16200000" scaled="0"/>
            <a:tileRect/>
          </a:gradFill>
          <a:ln w="12700" cmpd="sng"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/>
              <a:t>No Outline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8383745" y="1237619"/>
            <a:ext cx="360040" cy="360040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 w="12700" cmpd="sng">
            <a:solidFill>
              <a:schemeClr val="bg1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1600" dirty="0" smtClean="0"/>
              <a:t>3</a:t>
            </a:r>
            <a:endParaRPr lang="en-US" sz="1600" dirty="0"/>
          </a:p>
        </p:txBody>
      </p:sp>
      <p:sp>
        <p:nvSpPr>
          <p:cNvPr id="19" name="Rectangle 18"/>
          <p:cNvSpPr/>
          <p:nvPr/>
        </p:nvSpPr>
        <p:spPr>
          <a:xfrm>
            <a:off x="4015524" y="2838747"/>
            <a:ext cx="4539565" cy="211040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Top Label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75333" y="3362895"/>
            <a:ext cx="2132178" cy="625076"/>
          </a:xfrm>
          <a:prstGeom prst="rect">
            <a:avLst/>
          </a:prstGeom>
          <a:gradFill flip="none" rotWithShape="1">
            <a:gsLst>
              <a:gs pos="0">
                <a:srgbClr val="800000"/>
              </a:gs>
              <a:gs pos="100000">
                <a:schemeClr val="tx2"/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/>
              <a:t>Thicker Outline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474756" y="3362895"/>
            <a:ext cx="1908993" cy="62507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/>
              <a:t>Thicker Outline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4175333" y="4120755"/>
            <a:ext cx="2132178" cy="625076"/>
          </a:xfrm>
          <a:prstGeom prst="rect">
            <a:avLst/>
          </a:prstGeom>
          <a:gradFill flip="none" rotWithShape="1">
            <a:gsLst>
              <a:gs pos="0">
                <a:srgbClr val="800000"/>
              </a:gs>
              <a:gs pos="100000">
                <a:schemeClr val="tx2"/>
              </a:gs>
            </a:gsLst>
            <a:lin ang="16200000" scaled="0"/>
            <a:tileRect/>
          </a:gradFill>
          <a:ln w="127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/>
              <a:t>Thinner Outline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6474756" y="4120755"/>
            <a:ext cx="1908993" cy="62507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 w="127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/>
              <a:t>Thinner Outline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7113817" y="5180979"/>
            <a:ext cx="1320323" cy="413271"/>
          </a:xfrm>
          <a:prstGeom prst="rect">
            <a:avLst/>
          </a:prstGeom>
          <a:gradFill flip="none" rotWithShape="1">
            <a:gsLst>
              <a:gs pos="0">
                <a:srgbClr val="800000"/>
              </a:gs>
              <a:gs pos="100000">
                <a:schemeClr val="tx2"/>
              </a:gs>
            </a:gsLst>
            <a:lin ang="16200000" scaled="0"/>
            <a:tileRect/>
          </a:gradFill>
          <a:ln w="38100"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/>
              <a:t>No Outline</a:t>
            </a:r>
            <a:endParaRPr lang="en-US" dirty="0"/>
          </a:p>
        </p:txBody>
      </p:sp>
      <p:sp>
        <p:nvSpPr>
          <p:cNvPr id="26" name="Rectangle 25"/>
          <p:cNvSpPr/>
          <p:nvPr userDrawn="1"/>
        </p:nvSpPr>
        <p:spPr>
          <a:xfrm>
            <a:off x="4073668" y="1407425"/>
            <a:ext cx="1488010" cy="62507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Label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5733645" y="1407425"/>
            <a:ext cx="1380173" cy="625076"/>
          </a:xfrm>
          <a:prstGeom prst="rect">
            <a:avLst/>
          </a:prstGeom>
          <a:gradFill flip="none" rotWithShape="1">
            <a:gsLst>
              <a:gs pos="0">
                <a:srgbClr val="800000"/>
              </a:gs>
              <a:gs pos="100000">
                <a:schemeClr val="tx2"/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 anchorCtr="1"/>
          <a:lstStyle/>
          <a:p>
            <a:pPr algn="ctr"/>
            <a:r>
              <a:rPr lang="en-US" dirty="0" smtClean="0"/>
              <a:t>Label</a:t>
            </a:r>
            <a:endParaRPr lang="en-US" dirty="0"/>
          </a:p>
        </p:txBody>
      </p:sp>
      <p:sp>
        <p:nvSpPr>
          <p:cNvPr id="29" name="Rectangle 28"/>
          <p:cNvSpPr/>
          <p:nvPr userDrawn="1"/>
        </p:nvSpPr>
        <p:spPr>
          <a:xfrm>
            <a:off x="7285591" y="1407425"/>
            <a:ext cx="1269494" cy="62507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 anchorCtr="1"/>
          <a:lstStyle/>
          <a:p>
            <a:pPr algn="ctr"/>
            <a:r>
              <a:rPr lang="en-US" dirty="0" smtClean="0"/>
              <a:t>Label</a:t>
            </a:r>
            <a:endParaRPr lang="en-US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4012067" y="5180979"/>
            <a:ext cx="1428670" cy="413269"/>
          </a:xfrm>
          <a:prstGeom prst="rect">
            <a:avLst/>
          </a:prstGeom>
          <a:gradFill flip="none" rotWithShape="1">
            <a:gsLst>
              <a:gs pos="100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 w="12700" cmpd="sng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 anchorCtr="1"/>
          <a:lstStyle/>
          <a:p>
            <a:pPr algn="ctr"/>
            <a:r>
              <a:rPr lang="en-US" dirty="0" smtClean="0"/>
              <a:t>No Outline</a:t>
            </a:r>
            <a:endParaRPr lang="en-US" dirty="0"/>
          </a:p>
        </p:txBody>
      </p:sp>
      <p:sp>
        <p:nvSpPr>
          <p:cNvPr id="31" name="Rectangle 30"/>
          <p:cNvSpPr/>
          <p:nvPr userDrawn="1"/>
        </p:nvSpPr>
        <p:spPr>
          <a:xfrm>
            <a:off x="5595549" y="5180978"/>
            <a:ext cx="1364051" cy="413271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16200000" scaled="0"/>
            <a:tileRect/>
          </a:gradFill>
          <a:ln w="12700" cmpd="sng"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 anchorCtr="1"/>
          <a:lstStyle/>
          <a:p>
            <a:pPr algn="ctr"/>
            <a:r>
              <a:rPr lang="en-US" dirty="0" smtClean="0"/>
              <a:t>No Outline</a:t>
            </a:r>
            <a:endParaRPr lang="en-US" dirty="0"/>
          </a:p>
        </p:txBody>
      </p:sp>
      <p:sp>
        <p:nvSpPr>
          <p:cNvPr id="32" name="Oval 31"/>
          <p:cNvSpPr/>
          <p:nvPr userDrawn="1"/>
        </p:nvSpPr>
        <p:spPr>
          <a:xfrm>
            <a:off x="8383745" y="1237619"/>
            <a:ext cx="360040" cy="360040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 w="12700" cmpd="sng">
            <a:solidFill>
              <a:schemeClr val="bg1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1600" dirty="0" smtClean="0"/>
              <a:t>3</a:t>
            </a:r>
            <a:endParaRPr lang="en-US" sz="1600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4015522" y="2838746"/>
            <a:ext cx="4539565" cy="211040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Top Label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4175333" y="3362894"/>
            <a:ext cx="2132178" cy="625076"/>
          </a:xfrm>
          <a:prstGeom prst="rect">
            <a:avLst/>
          </a:prstGeom>
          <a:gradFill flip="none" rotWithShape="1">
            <a:gsLst>
              <a:gs pos="0">
                <a:srgbClr val="800000"/>
              </a:gs>
              <a:gs pos="100000">
                <a:schemeClr val="tx2"/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 anchorCtr="1"/>
          <a:lstStyle/>
          <a:p>
            <a:pPr algn="ctr"/>
            <a:r>
              <a:rPr lang="en-US" dirty="0" smtClean="0"/>
              <a:t>Thicker Outline</a:t>
            </a:r>
            <a:endParaRPr lang="en-US" dirty="0"/>
          </a:p>
        </p:txBody>
      </p:sp>
      <p:sp>
        <p:nvSpPr>
          <p:cNvPr id="35" name="Rectangle 34"/>
          <p:cNvSpPr/>
          <p:nvPr userDrawn="1"/>
        </p:nvSpPr>
        <p:spPr>
          <a:xfrm>
            <a:off x="6474754" y="3362894"/>
            <a:ext cx="1908993" cy="62507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 w="381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 anchorCtr="1"/>
          <a:lstStyle/>
          <a:p>
            <a:pPr algn="ctr"/>
            <a:r>
              <a:rPr lang="en-US" dirty="0" smtClean="0"/>
              <a:t>Thicker Outline</a:t>
            </a:r>
            <a:endParaRPr lang="en-US" dirty="0"/>
          </a:p>
        </p:txBody>
      </p:sp>
      <p:sp>
        <p:nvSpPr>
          <p:cNvPr id="36" name="Rectangle 35"/>
          <p:cNvSpPr/>
          <p:nvPr userDrawn="1"/>
        </p:nvSpPr>
        <p:spPr>
          <a:xfrm>
            <a:off x="4175333" y="4120755"/>
            <a:ext cx="2132178" cy="625076"/>
          </a:xfrm>
          <a:prstGeom prst="rect">
            <a:avLst/>
          </a:prstGeom>
          <a:gradFill flip="none" rotWithShape="1">
            <a:gsLst>
              <a:gs pos="0">
                <a:srgbClr val="800000"/>
              </a:gs>
              <a:gs pos="100000">
                <a:schemeClr val="tx2"/>
              </a:gs>
            </a:gsLst>
            <a:lin ang="16200000" scaled="0"/>
            <a:tileRect/>
          </a:gradFill>
          <a:ln w="127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 anchorCtr="1"/>
          <a:lstStyle/>
          <a:p>
            <a:pPr algn="ctr"/>
            <a:r>
              <a:rPr lang="en-US" dirty="0" smtClean="0"/>
              <a:t>Thinner Outline</a:t>
            </a:r>
            <a:endParaRPr lang="en-US" dirty="0"/>
          </a:p>
        </p:txBody>
      </p:sp>
      <p:sp>
        <p:nvSpPr>
          <p:cNvPr id="37" name="Rectangle 36"/>
          <p:cNvSpPr/>
          <p:nvPr userDrawn="1"/>
        </p:nvSpPr>
        <p:spPr>
          <a:xfrm>
            <a:off x="6474754" y="4120755"/>
            <a:ext cx="1908993" cy="62507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 w="127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 anchorCtr="1"/>
          <a:lstStyle/>
          <a:p>
            <a:pPr algn="ctr"/>
            <a:r>
              <a:rPr lang="en-US" dirty="0" smtClean="0"/>
              <a:t>Thinner Outline</a:t>
            </a:r>
            <a:endParaRPr lang="en-US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7089557" y="5180978"/>
            <a:ext cx="1465528" cy="413271"/>
          </a:xfrm>
          <a:prstGeom prst="rect">
            <a:avLst/>
          </a:prstGeom>
          <a:gradFill flip="none" rotWithShape="1">
            <a:gsLst>
              <a:gs pos="0">
                <a:srgbClr val="800000"/>
              </a:gs>
              <a:gs pos="100000">
                <a:schemeClr val="tx2"/>
              </a:gs>
            </a:gsLst>
            <a:lin ang="16200000" scaled="0"/>
            <a:tileRect/>
          </a:gradFill>
          <a:ln w="38100"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 anchorCtr="1"/>
          <a:lstStyle/>
          <a:p>
            <a:pPr algn="ctr"/>
            <a:r>
              <a:rPr lang="en-US" dirty="0" smtClean="0"/>
              <a:t>No Outline</a:t>
            </a:r>
            <a:endParaRPr lang="en-US" dirty="0"/>
          </a:p>
        </p:txBody>
      </p:sp>
      <p:pic>
        <p:nvPicPr>
          <p:cNvPr id="39" name="Picture 38" descr="qpLogo-Colour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95" y="6291468"/>
            <a:ext cx="1789412" cy="448171"/>
          </a:xfrm>
          <a:prstGeom prst="rect">
            <a:avLst/>
          </a:prstGeom>
        </p:spPr>
      </p:pic>
      <p:sp>
        <p:nvSpPr>
          <p:cNvPr id="40" name="Footer Placeholder 4"/>
          <p:cNvSpPr>
            <a:spLocks noGrp="1"/>
          </p:cNvSpPr>
          <p:nvPr userDrawn="1"/>
        </p:nvSpPr>
        <p:spPr>
          <a:xfrm>
            <a:off x="390358" y="6202784"/>
            <a:ext cx="355486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chemeClr val="accent6"/>
                </a:solidFill>
              </a:rPr>
              <a:t>Proprietary &amp; Confidential – QuickPlay Media Inc. All rights reserved.</a:t>
            </a:r>
            <a:endParaRPr lang="en-US" sz="9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2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2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wrap="square" lIns="0" tIns="108000" rIns="0" bIns="10800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12067" y="6252388"/>
            <a:ext cx="1119873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D7DC8-4B5D-4046-9CA7-AFB85BDF9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59976" cy="151757"/>
          </a:xfrm>
          <a:prstGeom prst="rect">
            <a:avLst/>
          </a:prstGeom>
          <a:solidFill>
            <a:srgbClr val="B8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0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  <p:sldLayoutId id="2147483752" r:id="rId24"/>
  </p:sldLayoutIdLst>
  <p:hf hdr="0" ftr="0" dt="0"/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600" b="1" i="0" kern="1200" baseline="0">
          <a:solidFill>
            <a:srgbClr val="B80D0D"/>
          </a:solidFill>
          <a:effectLst>
            <a:outerShdw blurRad="123825" dist="38100" dir="5400000" algn="tl" rotWithShape="0">
              <a:schemeClr val="bg1">
                <a:lumMod val="65000"/>
                <a:alpha val="28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Tx/>
        <a:buNone/>
        <a:defRPr sz="32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457200" rtl="0" eaLnBrk="1" latinLnBrk="0" hangingPunct="1">
        <a:spcBef>
          <a:spcPct val="20000"/>
        </a:spcBef>
        <a:buClr>
          <a:srgbClr val="B80D0D"/>
        </a:buClr>
        <a:buSzPct val="110000"/>
        <a:buFont typeface="Wingdings" charset="2"/>
        <a:buChar char="§"/>
        <a:defRPr sz="2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33400" indent="-228600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SzPct val="50000"/>
        <a:buFont typeface="Lucida Grande"/>
        <a:buChar char="►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62000" indent="-228600" algn="l" defTabSz="457200" rtl="0" eaLnBrk="1" latinLnBrk="0" hangingPunct="1">
        <a:spcBef>
          <a:spcPct val="20000"/>
        </a:spcBef>
        <a:buClr>
          <a:schemeClr val="bg1">
            <a:lumMod val="65000"/>
          </a:schemeClr>
        </a:buClr>
        <a:buSzPct val="60000"/>
        <a:buFont typeface="Wingdings" charset="2"/>
        <a:buChar char="u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1016000" indent="-228600" algn="l" defTabSz="457200" rtl="0" eaLnBrk="1" latinLnBrk="0" hangingPunct="1">
        <a:spcBef>
          <a:spcPct val="20000"/>
        </a:spcBef>
        <a:buClr>
          <a:schemeClr val="bg1">
            <a:lumMod val="75000"/>
          </a:schemeClr>
        </a:buClr>
        <a:buFont typeface="Arial"/>
        <a:buChar char="»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1270000" indent="-228600" algn="l" defTabSz="457200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Arial"/>
        <a:buChar char="•"/>
        <a:defRPr sz="2000" kern="1200" baseline="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san-dev-qpmtvx54-app-01:8083/solr/#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 smtClean="0"/>
              <a:t>RESTFul</a:t>
            </a:r>
            <a:r>
              <a:rPr lang="en-CA" dirty="0" smtClean="0"/>
              <a:t> API Test Tool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smtClean="0"/>
              <a:t>Introduction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D7DC8-4B5D-4046-9CA7-AFB85BDF9A9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08920"/>
            <a:ext cx="8229600" cy="1143000"/>
          </a:xfrm>
        </p:spPr>
        <p:txBody>
          <a:bodyPr/>
          <a:lstStyle/>
          <a:p>
            <a:pPr algn="ctr"/>
            <a:r>
              <a:rPr lang="en-CA" sz="6600" dirty="0" smtClean="0"/>
              <a:t>Concept</a:t>
            </a:r>
            <a:endParaRPr lang="en-CA" sz="6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2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698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1010" indent="-457200">
              <a:buFont typeface="Arial" panose="020B0604020202020204" pitchFamily="34" charset="0"/>
              <a:buChar char="•"/>
            </a:pPr>
            <a:r>
              <a:rPr lang="en-CA" dirty="0" smtClean="0"/>
              <a:t>Executing test without writing a line of code</a:t>
            </a:r>
          </a:p>
          <a:p>
            <a:pPr marL="461010" indent="-457200">
              <a:buFont typeface="Arial" panose="020B0604020202020204" pitchFamily="34" charset="0"/>
              <a:buChar char="•"/>
            </a:pPr>
            <a:r>
              <a:rPr lang="en-CA" dirty="0"/>
              <a:t>T</a:t>
            </a:r>
            <a:r>
              <a:rPr lang="en-CA" dirty="0" smtClean="0"/>
              <a:t>est case in Excel for easy management</a:t>
            </a:r>
          </a:p>
          <a:p>
            <a:pPr marL="461010" indent="-457200">
              <a:buFont typeface="Arial" panose="020B0604020202020204" pitchFamily="34" charset="0"/>
              <a:buChar char="•"/>
            </a:pPr>
            <a:r>
              <a:rPr lang="en-CA" dirty="0" smtClean="0"/>
              <a:t>External data source can be referenced as URL parameters or for response validation</a:t>
            </a:r>
          </a:p>
          <a:p>
            <a:pPr marL="461010" indent="-457200">
              <a:buFont typeface="Arial" panose="020B0604020202020204" pitchFamily="34" charset="0"/>
              <a:buChar char="•"/>
            </a:pPr>
            <a:r>
              <a:rPr lang="en-CA" dirty="0" smtClean="0"/>
              <a:t>Test cases can be independent or relevant</a:t>
            </a:r>
          </a:p>
          <a:p>
            <a:pPr marL="461010" indent="-457200">
              <a:buFont typeface="Arial" panose="020B0604020202020204" pitchFamily="34" charset="0"/>
              <a:buChar char="•"/>
            </a:pPr>
            <a:r>
              <a:rPr lang="en-CA" dirty="0" smtClean="0"/>
              <a:t>Multiple validation methods can be supported (schema, template, expected values)</a:t>
            </a:r>
          </a:p>
          <a:p>
            <a:endParaRPr lang="en-CA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3</a:t>
            </a:fld>
            <a:endParaRPr lang="en-US" sz="140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/>
          <a:p>
            <a:r>
              <a:rPr lang="en-CA" dirty="0" smtClean="0"/>
              <a:t>Basic Idea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1528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Variable can be used in Test Case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4</a:t>
            </a:fld>
            <a:endParaRPr lang="en-US" sz="1400"/>
          </a:p>
        </p:txBody>
      </p:sp>
      <p:sp>
        <p:nvSpPr>
          <p:cNvPr id="5" name="Rectangle 4"/>
          <p:cNvSpPr/>
          <p:nvPr/>
        </p:nvSpPr>
        <p:spPr>
          <a:xfrm>
            <a:off x="251520" y="1988840"/>
            <a:ext cx="8712968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"/>
            <a:r>
              <a:rPr lang="en-CA" sz="2400" b="1" dirty="0" smtClean="0">
                <a:solidFill>
                  <a:srgbClr val="0070C0"/>
                </a:solidFill>
              </a:rPr>
              <a:t>$</a:t>
            </a:r>
            <a:r>
              <a:rPr lang="en-CA" sz="2400" b="1" dirty="0" err="1" smtClean="0">
                <a:solidFill>
                  <a:srgbClr val="0070C0"/>
                </a:solidFill>
              </a:rPr>
              <a:t>rands</a:t>
            </a:r>
            <a:r>
              <a:rPr lang="en-CA" sz="2400" b="1" dirty="0" smtClean="0">
                <a:solidFill>
                  <a:srgbClr val="0070C0"/>
                </a:solidFill>
              </a:rPr>
              <a:t>(16)</a:t>
            </a:r>
          </a:p>
          <a:p>
            <a:pPr marL="3810"/>
            <a:r>
              <a:rPr lang="en-CA" dirty="0"/>
              <a:t>	</a:t>
            </a:r>
            <a:r>
              <a:rPr lang="en-CA" i="1" dirty="0"/>
              <a:t>U</a:t>
            </a:r>
            <a:r>
              <a:rPr lang="en-CA" i="1" dirty="0" smtClean="0"/>
              <a:t>se a </a:t>
            </a:r>
            <a:r>
              <a:rPr lang="en-CA" i="1" dirty="0"/>
              <a:t>16 bytes random string </a:t>
            </a:r>
          </a:p>
          <a:p>
            <a:pPr marL="461010" indent="-457200">
              <a:buFont typeface="Arial" panose="020B0604020202020204" pitchFamily="34" charset="0"/>
              <a:buChar char="•"/>
            </a:pPr>
            <a:endParaRPr lang="en-CA" dirty="0" smtClean="0"/>
          </a:p>
          <a:p>
            <a:pPr marL="3810"/>
            <a:r>
              <a:rPr lang="en-CA" sz="2400" b="1" dirty="0">
                <a:solidFill>
                  <a:srgbClr val="0070C0"/>
                </a:solidFill>
              </a:rPr>
              <a:t>$</a:t>
            </a:r>
            <a:r>
              <a:rPr lang="en-CA" sz="2400" b="1" dirty="0" err="1">
                <a:solidFill>
                  <a:srgbClr val="0070C0"/>
                </a:solidFill>
              </a:rPr>
              <a:t>db</a:t>
            </a:r>
            <a:r>
              <a:rPr lang="en-CA" sz="2400" b="1" dirty="0">
                <a:solidFill>
                  <a:srgbClr val="0070C0"/>
                </a:solidFill>
              </a:rPr>
              <a:t>://</a:t>
            </a:r>
            <a:r>
              <a:rPr lang="en-CA" sz="2400" b="1" dirty="0" smtClean="0">
                <a:solidFill>
                  <a:srgbClr val="0070C0"/>
                </a:solidFill>
              </a:rPr>
              <a:t>AUTH_TOKEN_MAP/NEW_TOKEN?DEVICE_UNIQUE_ID=1234</a:t>
            </a:r>
          </a:p>
          <a:p>
            <a:pPr marL="3810"/>
            <a:r>
              <a:rPr lang="en-CA" dirty="0"/>
              <a:t>	</a:t>
            </a:r>
            <a:r>
              <a:rPr lang="en-CA" i="1" dirty="0" smtClean="0"/>
              <a:t>Use the value of column NEW_TOKEN from table AUTH_TOKEN_MAP with condition DEVICE_UNIQUE_ID=1234</a:t>
            </a:r>
          </a:p>
          <a:p>
            <a:pPr marL="3810"/>
            <a:endParaRPr lang="en-CA" dirty="0"/>
          </a:p>
          <a:p>
            <a:pPr marL="3810"/>
            <a:r>
              <a:rPr lang="en-CA" sz="2400" b="1" dirty="0">
                <a:solidFill>
                  <a:srgbClr val="0070C0"/>
                </a:solidFill>
              </a:rPr>
              <a:t>$result://case_1_5/$.</a:t>
            </a:r>
            <a:r>
              <a:rPr lang="en-CA" sz="2400" b="1" dirty="0" err="1" smtClean="0">
                <a:solidFill>
                  <a:srgbClr val="0070C0"/>
                </a:solidFill>
              </a:rPr>
              <a:t>quickplayId</a:t>
            </a:r>
            <a:endParaRPr lang="en-CA" sz="2400" b="1" dirty="0" smtClean="0">
              <a:solidFill>
                <a:srgbClr val="0070C0"/>
              </a:solidFill>
            </a:endParaRPr>
          </a:p>
          <a:p>
            <a:pPr marL="3810"/>
            <a:r>
              <a:rPr lang="en-CA" dirty="0"/>
              <a:t>	</a:t>
            </a:r>
            <a:r>
              <a:rPr lang="en-CA" i="1" dirty="0" smtClean="0"/>
              <a:t>Use the value at the path </a:t>
            </a:r>
            <a:r>
              <a:rPr lang="en-CA" i="1" dirty="0"/>
              <a:t>$.</a:t>
            </a:r>
            <a:r>
              <a:rPr lang="en-CA" i="1" dirty="0" err="1" smtClean="0"/>
              <a:t>quickplayId</a:t>
            </a:r>
            <a:r>
              <a:rPr lang="en-CA" i="1" dirty="0" smtClean="0"/>
              <a:t> from result of test case case_1_5</a:t>
            </a:r>
          </a:p>
          <a:p>
            <a:pPr marL="3810"/>
            <a:endParaRPr lang="en-CA" dirty="0"/>
          </a:p>
          <a:p>
            <a:pPr marL="3810"/>
            <a:r>
              <a:rPr lang="en-CA" sz="2400" b="1" dirty="0">
                <a:solidFill>
                  <a:srgbClr val="0070C0"/>
                </a:solidFill>
              </a:rPr>
              <a:t>${</a:t>
            </a:r>
            <a:r>
              <a:rPr lang="en-CA" sz="2400" b="1" dirty="0" err="1">
                <a:solidFill>
                  <a:srgbClr val="0070C0"/>
                </a:solidFill>
              </a:rPr>
              <a:t>reusedUniqueId</a:t>
            </a:r>
            <a:r>
              <a:rPr lang="en-CA" sz="2400" b="1" dirty="0" smtClean="0">
                <a:solidFill>
                  <a:srgbClr val="0070C0"/>
                </a:solidFill>
              </a:rPr>
              <a:t>}</a:t>
            </a:r>
          </a:p>
          <a:p>
            <a:pPr marL="3810"/>
            <a:r>
              <a:rPr lang="en-CA" dirty="0"/>
              <a:t>	</a:t>
            </a:r>
            <a:r>
              <a:rPr lang="en-CA" i="1" dirty="0" smtClean="0"/>
              <a:t>Use the value of variable </a:t>
            </a:r>
            <a:r>
              <a:rPr lang="en-CA" i="1" dirty="0" err="1" smtClean="0"/>
              <a:t>reusedUniqueId</a:t>
            </a:r>
            <a:r>
              <a:rPr lang="en-CA" b="1" dirty="0" smtClean="0">
                <a:solidFill>
                  <a:srgbClr val="0070C0"/>
                </a:solidFill>
              </a:rPr>
              <a:t> </a:t>
            </a:r>
            <a:r>
              <a:rPr lang="en-CA" i="1" dirty="0" smtClean="0"/>
              <a:t>defined in info sheet</a:t>
            </a:r>
          </a:p>
          <a:p>
            <a:pPr marL="461010" indent="-457200">
              <a:buFont typeface="Arial" panose="020B0604020202020204" pitchFamily="34" charset="0"/>
              <a:buChar char="•"/>
            </a:pPr>
            <a:endParaRPr lang="en-CA" dirty="0" smtClean="0"/>
          </a:p>
          <a:p>
            <a:pPr marL="461010" indent="-4572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/>
          <p:cNvSpPr/>
          <p:nvPr/>
        </p:nvSpPr>
        <p:spPr>
          <a:xfrm>
            <a:off x="457200" y="952487"/>
            <a:ext cx="80032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"/>
            <a:r>
              <a:rPr lang="en-CA" sz="3200" i="1" dirty="0">
                <a:solidFill>
                  <a:schemeClr val="accent6">
                    <a:lumMod val="75000"/>
                  </a:schemeClr>
                </a:solidFill>
              </a:rPr>
              <a:t>Variable can be used in test case</a:t>
            </a:r>
          </a:p>
        </p:txBody>
      </p:sp>
    </p:spTree>
    <p:extLst>
      <p:ext uri="{BB962C8B-B14F-4D97-AF65-F5344CB8AC3E}">
        <p14:creationId xmlns:p14="http://schemas.microsoft.com/office/powerpoint/2010/main" val="87956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Response is validated in three ways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5</a:t>
            </a:fld>
            <a:endParaRPr lang="en-US" sz="1400"/>
          </a:p>
        </p:txBody>
      </p:sp>
      <p:sp>
        <p:nvSpPr>
          <p:cNvPr id="5" name="Rectangle 4"/>
          <p:cNvSpPr/>
          <p:nvPr/>
        </p:nvSpPr>
        <p:spPr>
          <a:xfrm>
            <a:off x="174340" y="1244874"/>
            <a:ext cx="856895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"/>
            <a:r>
              <a:rPr lang="en-CA" sz="2400" b="1" dirty="0" smtClean="0">
                <a:solidFill>
                  <a:srgbClr val="0070C0"/>
                </a:solidFill>
              </a:rPr>
              <a:t>Validation by checking JSON schema</a:t>
            </a:r>
          </a:p>
          <a:p>
            <a:pPr marL="3810"/>
            <a:r>
              <a:rPr lang="en-CA" dirty="0"/>
              <a:t>	</a:t>
            </a:r>
            <a:r>
              <a:rPr lang="en-CA" i="1" dirty="0" smtClean="0"/>
              <a:t>Useful for validating the response format </a:t>
            </a:r>
            <a:endParaRPr lang="en-CA" i="1" dirty="0"/>
          </a:p>
          <a:p>
            <a:pPr marL="461010" indent="-457200">
              <a:buFont typeface="Arial" panose="020B0604020202020204" pitchFamily="34" charset="0"/>
              <a:buChar char="•"/>
            </a:pPr>
            <a:endParaRPr lang="en-CA" dirty="0" smtClean="0"/>
          </a:p>
          <a:p>
            <a:pPr marL="3810"/>
            <a:r>
              <a:rPr lang="en-CA" sz="2400" b="1" dirty="0" smtClean="0">
                <a:solidFill>
                  <a:srgbClr val="0070C0"/>
                </a:solidFill>
              </a:rPr>
              <a:t>Validation by checking response template (fields order is ignored)</a:t>
            </a:r>
          </a:p>
          <a:p>
            <a:pPr marL="3810"/>
            <a:r>
              <a:rPr lang="en-CA" dirty="0"/>
              <a:t>	</a:t>
            </a:r>
            <a:r>
              <a:rPr lang="en-CA" i="1" dirty="0" smtClean="0"/>
              <a:t>Useful for executing regression test, same case has to generate the same result excluding ignorable fields</a:t>
            </a:r>
          </a:p>
          <a:p>
            <a:pPr marL="3810"/>
            <a:endParaRPr lang="en-CA" dirty="0"/>
          </a:p>
          <a:p>
            <a:pPr marL="3810"/>
            <a:r>
              <a:rPr lang="en-CA" sz="2400" b="1" dirty="0" smtClean="0">
                <a:solidFill>
                  <a:srgbClr val="0070C0"/>
                </a:solidFill>
              </a:rPr>
              <a:t>Validation by checking the expected values</a:t>
            </a:r>
          </a:p>
          <a:p>
            <a:pPr marL="3810"/>
            <a:r>
              <a:rPr lang="en-CA" dirty="0" smtClean="0"/>
              <a:t>	</a:t>
            </a:r>
            <a:r>
              <a:rPr lang="en-CA" i="1" dirty="0" smtClean="0"/>
              <a:t>Useful when only part of fields need to be checked, when output is not constant for the same case, when external data source is required for result validation</a:t>
            </a:r>
          </a:p>
          <a:p>
            <a:pPr marL="3810"/>
            <a:endParaRPr lang="en-CA" dirty="0"/>
          </a:p>
          <a:p>
            <a:pPr marL="461010" indent="-457200">
              <a:buFont typeface="Arial" panose="020B0604020202020204" pitchFamily="34" charset="0"/>
              <a:buChar char="•"/>
            </a:pPr>
            <a:endParaRPr lang="en-CA" dirty="0" smtClean="0"/>
          </a:p>
          <a:p>
            <a:pPr marL="461010" indent="-4572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/>
          <p:cNvSpPr/>
          <p:nvPr/>
        </p:nvSpPr>
        <p:spPr>
          <a:xfrm>
            <a:off x="457200" y="952487"/>
            <a:ext cx="80032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"/>
            <a:endParaRPr lang="en-CA" sz="3200" i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5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469"/>
            <a:ext cx="8229600" cy="1143000"/>
          </a:xfrm>
        </p:spPr>
        <p:txBody>
          <a:bodyPr/>
          <a:lstStyle/>
          <a:p>
            <a:r>
              <a:rPr lang="en-CA" dirty="0" smtClean="0"/>
              <a:t>Create Test </a:t>
            </a:r>
            <a:r>
              <a:rPr lang="en-CA" dirty="0" smtClean="0"/>
              <a:t>Cases in </a:t>
            </a:r>
            <a:r>
              <a:rPr lang="en-CA" dirty="0" smtClean="0"/>
              <a:t>Excel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6</a:t>
            </a:fld>
            <a:endParaRPr lang="en-US" sz="140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25356"/>
          </a:xfrm>
        </p:spPr>
        <p:txBody>
          <a:bodyPr/>
          <a:lstStyle/>
          <a:p>
            <a:pPr marL="461010" indent="-457200">
              <a:buFont typeface="Arial" panose="020B0604020202020204" pitchFamily="34" charset="0"/>
              <a:buChar char="•"/>
            </a:pPr>
            <a:r>
              <a:rPr lang="en-CA" dirty="0" smtClean="0"/>
              <a:t>First </a:t>
            </a:r>
            <a:r>
              <a:rPr lang="en-CA" dirty="0" smtClean="0"/>
              <a:t>sheet</a:t>
            </a:r>
            <a:r>
              <a:rPr lang="en-CA" dirty="0" smtClean="0"/>
              <a:t> </a:t>
            </a:r>
            <a:r>
              <a:rPr lang="en-CA" dirty="0" smtClean="0"/>
              <a:t>is </a:t>
            </a:r>
            <a:r>
              <a:rPr lang="en-CA" dirty="0" smtClean="0"/>
              <a:t>used </a:t>
            </a:r>
            <a:r>
              <a:rPr lang="en-CA" dirty="0" smtClean="0"/>
              <a:t>as </a:t>
            </a:r>
            <a:r>
              <a:rPr lang="en-CA" dirty="0" smtClean="0"/>
              <a:t>info </a:t>
            </a:r>
            <a:r>
              <a:rPr lang="en-CA" dirty="0" smtClean="0"/>
              <a:t>page including variable </a:t>
            </a:r>
            <a:r>
              <a:rPr lang="en-CA" dirty="0" smtClean="0"/>
              <a:t>definitions</a:t>
            </a:r>
          </a:p>
          <a:p>
            <a:pPr marL="461010" indent="-457200">
              <a:buFont typeface="Arial" panose="020B0604020202020204" pitchFamily="34" charset="0"/>
              <a:buChar char="•"/>
            </a:pPr>
            <a:endParaRPr lang="en-CA" dirty="0"/>
          </a:p>
          <a:p>
            <a:pPr marL="461010" indent="-457200">
              <a:buFont typeface="Arial" panose="020B0604020202020204" pitchFamily="34" charset="0"/>
              <a:buChar char="•"/>
            </a:pPr>
            <a:endParaRPr lang="en-CA" dirty="0" smtClean="0"/>
          </a:p>
          <a:p>
            <a:pPr marL="461010" indent="-457200">
              <a:buFont typeface="Arial" panose="020B0604020202020204" pitchFamily="34" charset="0"/>
              <a:buChar char="•"/>
            </a:pPr>
            <a:r>
              <a:rPr lang="en-CA" dirty="0" smtClean="0"/>
              <a:t>Sheets with name starting with test are regarded as Test Sheets</a:t>
            </a:r>
            <a:endParaRPr lang="en-CA" dirty="0" smtClean="0"/>
          </a:p>
          <a:p>
            <a:pPr>
              <a:lnSpc>
                <a:spcPct val="200000"/>
              </a:lnSpc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7165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Test Cases in Excel – Info Sheet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7</a:t>
            </a:fld>
            <a:endParaRPr lang="en-US" sz="140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5145436"/>
          </a:xfrm>
        </p:spPr>
        <p:txBody>
          <a:bodyPr/>
          <a:lstStyle/>
          <a:p>
            <a:r>
              <a:rPr lang="en-CA" dirty="0" smtClean="0"/>
              <a:t>First page is info page including variable definitions</a:t>
            </a:r>
          </a:p>
          <a:p>
            <a:endParaRPr lang="en-CA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747662"/>
              </p:ext>
            </p:extLst>
          </p:nvPr>
        </p:nvGraphicFramePr>
        <p:xfrm>
          <a:off x="462531" y="1844824"/>
          <a:ext cx="8069908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1197"/>
                <a:gridCol w="5256584"/>
                <a:gridCol w="1152127"/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CA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  <a:endParaRPr lang="en-CA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n-CA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Required</a:t>
                      </a:r>
                      <a:endParaRPr lang="en-CA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1" u="none" strike="noStrike" dirty="0">
                          <a:effectLst/>
                        </a:rPr>
                        <a:t>host</a:t>
                      </a:r>
                      <a:endParaRPr lang="en-CA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RESTFul</a:t>
                      </a:r>
                      <a:r>
                        <a:rPr lang="en-CA" sz="2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API server address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1" u="none" strike="noStrike" dirty="0">
                          <a:effectLst/>
                        </a:rPr>
                        <a:t>port</a:t>
                      </a:r>
                      <a:endParaRPr lang="en-CA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RESTFul</a:t>
                      </a:r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API server port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1" u="none" strike="noStrike">
                          <a:effectLst/>
                        </a:rPr>
                        <a:t>servicePath</a:t>
                      </a:r>
                      <a:endParaRPr lang="en-CA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API service URL</a:t>
                      </a:r>
                      <a:r>
                        <a:rPr lang="en-CA" sz="2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path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CA" sz="2400" b="0" u="none" strike="noStrike" dirty="0" err="1">
                          <a:effectLst/>
                        </a:rPr>
                        <a:t>fixedParams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API</a:t>
                      </a:r>
                      <a:r>
                        <a:rPr lang="en-CA" sz="2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parameters applied to all </a:t>
                      </a:r>
                      <a:r>
                        <a:rPr lang="en-CA" sz="2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 cases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u="none" strike="noStrike">
                          <a:effectLst/>
                        </a:rPr>
                        <a:t>resourceFolder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Path </a:t>
                      </a:r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 find </a:t>
                      </a:r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resources</a:t>
                      </a:r>
                      <a:r>
                        <a:rPr lang="en-CA" sz="2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required if external resources are used in test case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u="none" strike="noStrike">
                          <a:effectLst/>
                        </a:rPr>
                        <a:t>dbUrl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JDBC </a:t>
                      </a:r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</a:t>
                      </a:r>
                      <a:r>
                        <a:rPr lang="en-CA" sz="2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 </a:t>
                      </a:r>
                      <a:r>
                        <a:rPr lang="en-CA" sz="2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URL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u="none" strike="noStrike" dirty="0" err="1">
                          <a:effectLst/>
                        </a:rPr>
                        <a:t>dbUsername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Database username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u="none" strike="noStrike" dirty="0" err="1">
                          <a:effectLst/>
                        </a:rPr>
                        <a:t>dbPassword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Database password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[customized</a:t>
                      </a:r>
                      <a:r>
                        <a:rPr lang="en-CA" sz="2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CA" sz="24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</a:t>
                      </a:r>
                      <a:r>
                        <a:rPr lang="en-CA" sz="2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name]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User</a:t>
                      </a:r>
                      <a:r>
                        <a:rPr lang="en-CA" sz="2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defined variable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85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Info Sheet - Sample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8</a:t>
            </a:fld>
            <a:endParaRPr lang="en-US" sz="140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5629836"/>
              </p:ext>
            </p:extLst>
          </p:nvPr>
        </p:nvGraphicFramePr>
        <p:xfrm>
          <a:off x="251520" y="914555"/>
          <a:ext cx="8229600" cy="576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6156"/>
                <a:gridCol w="6943444"/>
              </a:tblGrid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host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san-dev-qpmtvx54-app-01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port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10540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servicePath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/vstb/app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37444">
                <a:tc>
                  <a:txBody>
                    <a:bodyPr/>
                    <a:lstStyle/>
                    <a:p>
                      <a:pPr algn="l" fontAlgn="ctr"/>
                      <a:r>
                        <a:rPr lang="en-CA" sz="1800" u="none" strike="noStrike">
                          <a:effectLst/>
                        </a:rPr>
                        <a:t>fixedParams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network=HSDPA&amp;appId=5000&amp;appVersion=1.0&amp;carrierId=0&amp;deviceName=androidmobile&amp;osVersion=2.3.6&amp;formFactor=smartphone&amp;osPlatform=Android&amp;mfgr=samsung&amp;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resourceFolder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classpath:vstb_resources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dbUrl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jdbc:oracle:thin:@san-dev-ora-01:1521:DIT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dbUsername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san_qpmtvx54_admin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dbPassword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san_qpmtvx54_admin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reusedUniqueId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RELOGIN_WILL_ACTIVE_MAK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drmTokenForReusedUniqueId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$db://AUTH_TOKEN_MAP/NEW_TOKEN?DEVICE_UNIQUE_ID=RELOGIN_WILL_ACTIVE_MAK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reusedSubscribedId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22f982a1-2f1b-4a0a-bac4-6db201716a80_1403728686493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testCategory</a:t>
                      </a:r>
                      <a:endParaRPr lang="en-CA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vstb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29515"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none" strike="noStrike">
                          <a:effectLst/>
                        </a:rPr>
                        <a:t>solrAdminUrl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800" u="sng" strike="noStrike" dirty="0">
                          <a:effectLst/>
                          <a:hlinkClick r:id="rId2"/>
                        </a:rPr>
                        <a:t>http://san-dev-qpmtvx54-app-01:8083/solr/#/</a:t>
                      </a:r>
                      <a:endParaRPr lang="en-CA" sz="18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357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470"/>
            <a:ext cx="8229600" cy="597242"/>
          </a:xfrm>
        </p:spPr>
        <p:txBody>
          <a:bodyPr/>
          <a:lstStyle/>
          <a:p>
            <a:r>
              <a:rPr lang="en-CA" dirty="0" smtClean="0"/>
              <a:t>Test Cases in Excel – Test Case Sheet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9</a:t>
            </a:fld>
            <a:endParaRPr lang="en-US" sz="1400"/>
          </a:p>
        </p:txBody>
      </p:sp>
      <p:sp>
        <p:nvSpPr>
          <p:cNvPr id="3" name="TextBox 2"/>
          <p:cNvSpPr txBox="1"/>
          <p:nvPr/>
        </p:nvSpPr>
        <p:spPr>
          <a:xfrm>
            <a:off x="457200" y="1196752"/>
            <a:ext cx="8229600" cy="46805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461010" indent="-457200">
              <a:spcBef>
                <a:spcPct val="20000"/>
              </a:spcBef>
              <a:buFont typeface="Arial" panose="020B0604020202020204" pitchFamily="34" charset="0"/>
              <a:buChar char="•"/>
              <a:defRPr sz="2800" b="0" i="0"/>
            </a:lvl1pPr>
            <a:lvl2pPr marL="285750" indent="-285750">
              <a:spcBef>
                <a:spcPct val="20000"/>
              </a:spcBef>
              <a:buClr>
                <a:srgbClr val="B80D0D"/>
              </a:buClr>
              <a:buSzPct val="110000"/>
              <a:buFont typeface="Wingdings" charset="2"/>
              <a:buChar char="§"/>
              <a:defRPr sz="2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33400" indent="-2286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50000"/>
              <a:buFont typeface="Lucida Grande"/>
              <a:buChar char="►"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762000" indent="-228600">
              <a:spcBef>
                <a:spcPct val="20000"/>
              </a:spcBef>
              <a:buClr>
                <a:schemeClr val="bg1">
                  <a:lumMod val="65000"/>
                </a:schemeClr>
              </a:buClr>
              <a:buSzPct val="60000"/>
              <a:buFont typeface="Wingdings" charset="2"/>
              <a:buChar char="u"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016000" indent="-228600">
              <a:spcBef>
                <a:spcPct val="20000"/>
              </a:spcBef>
              <a:buClr>
                <a:schemeClr val="bg1">
                  <a:lumMod val="75000"/>
                </a:schemeClr>
              </a:buClr>
              <a:buFont typeface="Arial"/>
              <a:buChar char="»"/>
              <a:defRPr sz="2000">
                <a:solidFill>
                  <a:schemeClr val="bg1">
                    <a:lumMod val="50000"/>
                  </a:schemeClr>
                </a:solidFill>
              </a:defRPr>
            </a:lvl5pPr>
            <a:lvl6pPr marL="1270000" indent="-228600">
              <a:spcBef>
                <a:spcPct val="20000"/>
              </a:spcBef>
              <a:buClr>
                <a:schemeClr val="bg1">
                  <a:lumMod val="65000"/>
                </a:schemeClr>
              </a:buClr>
              <a:buFont typeface="Arial"/>
              <a:buChar char="•"/>
              <a:defRPr sz="2000" baseline="0">
                <a:solidFill>
                  <a:schemeClr val="bg1">
                    <a:lumMod val="50000"/>
                  </a:schemeClr>
                </a:solidFill>
              </a:defRPr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CA" dirty="0"/>
              <a:t>Any sheet with name starting with </a:t>
            </a:r>
            <a:r>
              <a:rPr lang="en-CA" b="1" dirty="0"/>
              <a:t>test</a:t>
            </a:r>
            <a:r>
              <a:rPr lang="en-CA" dirty="0"/>
              <a:t> is regarded as test case </a:t>
            </a:r>
            <a:r>
              <a:rPr lang="en-CA" dirty="0" smtClean="0"/>
              <a:t>sheet</a:t>
            </a:r>
          </a:p>
          <a:p>
            <a:endParaRPr lang="en-CA" dirty="0"/>
          </a:p>
          <a:p>
            <a:r>
              <a:rPr lang="en-CA" dirty="0"/>
              <a:t>A test case sheet consists of 4 column groups: </a:t>
            </a:r>
            <a:r>
              <a:rPr lang="en-CA" b="1" dirty="0"/>
              <a:t>meta</a:t>
            </a:r>
            <a:r>
              <a:rPr lang="en-CA" dirty="0"/>
              <a:t>, </a:t>
            </a:r>
            <a:r>
              <a:rPr lang="en-CA" b="1" dirty="0"/>
              <a:t>result</a:t>
            </a:r>
            <a:r>
              <a:rPr lang="en-CA" dirty="0"/>
              <a:t>, </a:t>
            </a:r>
            <a:r>
              <a:rPr lang="en-CA" b="1" dirty="0"/>
              <a:t>parameters</a:t>
            </a:r>
            <a:r>
              <a:rPr lang="en-CA" dirty="0"/>
              <a:t>, </a:t>
            </a:r>
            <a:r>
              <a:rPr lang="en-CA" b="1" dirty="0"/>
              <a:t>expected </a:t>
            </a:r>
            <a:r>
              <a:rPr lang="en-CA" b="1" dirty="0" smtClean="0"/>
              <a:t>values</a:t>
            </a:r>
          </a:p>
          <a:p>
            <a:endParaRPr lang="en-CA" dirty="0"/>
          </a:p>
          <a:p>
            <a:r>
              <a:rPr lang="en-CA" dirty="0"/>
              <a:t>C</a:t>
            </a:r>
            <a:r>
              <a:rPr lang="en-CA" dirty="0" smtClean="0"/>
              <a:t>olumn </a:t>
            </a:r>
            <a:r>
              <a:rPr lang="en-CA" dirty="0"/>
              <a:t>groups are separated with an empty column</a:t>
            </a:r>
          </a:p>
        </p:txBody>
      </p:sp>
    </p:spTree>
    <p:extLst>
      <p:ext uri="{BB962C8B-B14F-4D97-AF65-F5344CB8AC3E}">
        <p14:creationId xmlns:p14="http://schemas.microsoft.com/office/powerpoint/2010/main" val="29715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470"/>
            <a:ext cx="8229600" cy="597242"/>
          </a:xfrm>
        </p:spPr>
        <p:txBody>
          <a:bodyPr/>
          <a:lstStyle/>
          <a:p>
            <a:r>
              <a:rPr lang="en-CA" dirty="0" smtClean="0"/>
              <a:t>Test Sheet – Meta Columns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10</a:t>
            </a:fld>
            <a:endParaRPr lang="en-US" sz="1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21541"/>
              </p:ext>
            </p:extLst>
          </p:nvPr>
        </p:nvGraphicFramePr>
        <p:xfrm>
          <a:off x="323528" y="846633"/>
          <a:ext cx="8229601" cy="550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12"/>
                <a:gridCol w="5256584"/>
                <a:gridCol w="1450505"/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Column</a:t>
                      </a:r>
                      <a:r>
                        <a:rPr lang="en-CA" baseline="0" dirty="0" smtClean="0"/>
                        <a:t> Title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Description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Used in Test?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ID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Uniquely</a:t>
                      </a:r>
                      <a:r>
                        <a:rPr lang="en-CA" baseline="0" dirty="0" smtClean="0"/>
                        <a:t> identify a test cause, will be shown in the </a:t>
                      </a:r>
                      <a:r>
                        <a:rPr lang="en-CA" baseline="0" dirty="0" err="1" smtClean="0"/>
                        <a:t>JUnit</a:t>
                      </a:r>
                      <a:r>
                        <a:rPr lang="en-CA" baseline="0" dirty="0" smtClean="0"/>
                        <a:t> test result</a:t>
                      </a:r>
                      <a:endParaRPr lang="en-CA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Yes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Description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Description</a:t>
                      </a:r>
                      <a:r>
                        <a:rPr lang="en-CA" baseline="0" dirty="0" smtClean="0"/>
                        <a:t> of the case, will be included in test result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Yes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dependencies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Comma separated IDs</a:t>
                      </a:r>
                      <a:r>
                        <a:rPr lang="en-CA" baseline="0" dirty="0" smtClean="0"/>
                        <a:t> of </a:t>
                      </a:r>
                      <a:r>
                        <a:rPr lang="en-CA" dirty="0" smtClean="0"/>
                        <a:t>test cases on which the current case is dependent.  Dependent case always</a:t>
                      </a:r>
                      <a:r>
                        <a:rPr lang="en-CA" baseline="0" dirty="0" smtClean="0"/>
                        <a:t> run after depended cases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Yes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err="1" smtClean="0"/>
                        <a:t>responseSchema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JSON schema file name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Yes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err="1" smtClean="0"/>
                        <a:t>responseTemplate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 real case output</a:t>
                      </a:r>
                      <a:r>
                        <a:rPr lang="en-CA" baseline="0" dirty="0" smtClean="0"/>
                        <a:t> </a:t>
                      </a:r>
                      <a:r>
                        <a:rPr lang="en-CA" dirty="0" smtClean="0"/>
                        <a:t>used to be</a:t>
                      </a:r>
                      <a:r>
                        <a:rPr lang="en-CA" baseline="0" dirty="0" smtClean="0"/>
                        <a:t> compared with the current case output, fields order is ignored, fields with value </a:t>
                      </a:r>
                      <a:r>
                        <a:rPr lang="en-CA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"${</a:t>
                      </a:r>
                      <a:r>
                        <a:rPr lang="en-CA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json-unit.ignore</a:t>
                      </a:r>
                      <a:r>
                        <a:rPr lang="en-CA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}“ will be ignored to compare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Yes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JIRA No.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Defect no on JIRA. Just for remembering if</a:t>
                      </a:r>
                      <a:r>
                        <a:rPr lang="en-CA" baseline="0" dirty="0" smtClean="0"/>
                        <a:t> this case is reported to JIRA.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No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State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JIRA</a:t>
                      </a:r>
                      <a:r>
                        <a:rPr lang="en-CA" baseline="0" dirty="0" smtClean="0"/>
                        <a:t> defect state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No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[Any other]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Any</a:t>
                      </a:r>
                      <a:r>
                        <a:rPr lang="en-CA" baseline="0" dirty="0" smtClean="0"/>
                        <a:t> column can be added for assisting to remember and understand the test case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No</a:t>
                      </a:r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88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470"/>
            <a:ext cx="8229600" cy="597242"/>
          </a:xfrm>
        </p:spPr>
        <p:txBody>
          <a:bodyPr/>
          <a:lstStyle/>
          <a:p>
            <a:r>
              <a:rPr lang="en-CA" dirty="0" smtClean="0"/>
              <a:t>Test Sheet – Result Columns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11</a:t>
            </a:fld>
            <a:endParaRPr lang="en-US" sz="1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133489"/>
              </p:ext>
            </p:extLst>
          </p:nvPr>
        </p:nvGraphicFramePr>
        <p:xfrm>
          <a:off x="457200" y="1916832"/>
          <a:ext cx="8229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12"/>
                <a:gridCol w="5256584"/>
                <a:gridCol w="1450505"/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Column</a:t>
                      </a:r>
                      <a:r>
                        <a:rPr lang="en-CA" baseline="0" dirty="0" smtClean="0"/>
                        <a:t> Title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Description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Used in Test?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Passed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TRUE</a:t>
                      </a:r>
                      <a:r>
                        <a:rPr lang="en-CA" baseline="0" dirty="0" smtClean="0"/>
                        <a:t> of FALSE to indicate the test result</a:t>
                      </a:r>
                      <a:endParaRPr lang="en-CA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Yes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URL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The</a:t>
                      </a:r>
                      <a:r>
                        <a:rPr lang="en-CA" baseline="0" dirty="0" smtClean="0"/>
                        <a:t> generated URL for executing REST API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Yes</a:t>
                      </a:r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1196752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 smtClean="0"/>
              <a:t>Test result will be saved back in this columns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49161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470"/>
            <a:ext cx="8229600" cy="597242"/>
          </a:xfrm>
        </p:spPr>
        <p:txBody>
          <a:bodyPr/>
          <a:lstStyle/>
          <a:p>
            <a:r>
              <a:rPr lang="en-CA" dirty="0" smtClean="0"/>
              <a:t>Test Sheet – Parameters Columns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12</a:t>
            </a:fld>
            <a:endParaRPr lang="en-US" sz="1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433072"/>
              </p:ext>
            </p:extLst>
          </p:nvPr>
        </p:nvGraphicFramePr>
        <p:xfrm>
          <a:off x="539552" y="3429000"/>
          <a:ext cx="8229601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12"/>
                <a:gridCol w="5256584"/>
                <a:gridCol w="1450505"/>
              </a:tblGrid>
              <a:tr h="226824">
                <a:tc>
                  <a:txBody>
                    <a:bodyPr/>
                    <a:lstStyle/>
                    <a:p>
                      <a:r>
                        <a:rPr lang="en-CA" dirty="0" smtClean="0"/>
                        <a:t>Column</a:t>
                      </a:r>
                      <a:r>
                        <a:rPr lang="en-CA" baseline="0" dirty="0" smtClean="0"/>
                        <a:t> Title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Description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Used in Test?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[</a:t>
                      </a:r>
                      <a:r>
                        <a:rPr lang="en-CA" b="1" baseline="0" dirty="0" smtClean="0"/>
                        <a:t>parameter name]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The parameter will be appended to the</a:t>
                      </a:r>
                      <a:r>
                        <a:rPr lang="en-CA" baseline="0" dirty="0" smtClean="0"/>
                        <a:t> API URL</a:t>
                      </a:r>
                      <a:endParaRPr lang="en-CA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Yes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1196752"/>
            <a:ext cx="8507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 smtClean="0"/>
              <a:t>Parameters defined in this columns will be added to the API URL being tested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 smtClean="0"/>
              <a:t>Parameter value can be constant value, variable, function of data URI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93785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470"/>
            <a:ext cx="8229600" cy="597242"/>
          </a:xfrm>
        </p:spPr>
        <p:txBody>
          <a:bodyPr/>
          <a:lstStyle/>
          <a:p>
            <a:r>
              <a:rPr lang="en-CA" dirty="0" smtClean="0"/>
              <a:t>Test Sheet – Expected Values Columns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13</a:t>
            </a:fld>
            <a:endParaRPr lang="en-US" sz="1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88876"/>
              </p:ext>
            </p:extLst>
          </p:nvPr>
        </p:nvGraphicFramePr>
        <p:xfrm>
          <a:off x="457199" y="2492896"/>
          <a:ext cx="8229601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12"/>
                <a:gridCol w="5256584"/>
                <a:gridCol w="1450505"/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Column</a:t>
                      </a:r>
                      <a:r>
                        <a:rPr lang="en-CA" baseline="0" dirty="0" smtClean="0"/>
                        <a:t> Title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Description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Used in Test?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[Response Field</a:t>
                      </a:r>
                      <a:r>
                        <a:rPr lang="en-CA" b="1" baseline="0" dirty="0" smtClean="0"/>
                        <a:t> Path]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Value</a:t>
                      </a:r>
                      <a:r>
                        <a:rPr lang="en-CA" baseline="0" dirty="0" smtClean="0"/>
                        <a:t> used to validate the response of API call</a:t>
                      </a:r>
                      <a:endParaRPr lang="en-CA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/>
                        <a:t>Yes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1196752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 smtClean="0"/>
              <a:t>Used to verify the values in the response of API 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 smtClean="0"/>
              <a:t>Response field path is in the format of </a:t>
            </a:r>
            <a:r>
              <a:rPr lang="en-CA" sz="2400" dirty="0" err="1" smtClean="0"/>
              <a:t>JsonPath</a:t>
            </a:r>
            <a:endParaRPr lang="en-CA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/>
              <a:t>V</a:t>
            </a:r>
            <a:r>
              <a:rPr lang="en-CA" sz="2400" dirty="0" smtClean="0"/>
              <a:t>alue </a:t>
            </a:r>
            <a:r>
              <a:rPr lang="en-CA" sz="2400" dirty="0"/>
              <a:t>can be constant value, variable, function of data </a:t>
            </a:r>
            <a:r>
              <a:rPr lang="en-CA" sz="2400" dirty="0" smtClean="0"/>
              <a:t>URI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65421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Action Sequence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14</a:t>
            </a:fld>
            <a:endParaRPr lang="en-US" sz="1400"/>
          </a:p>
        </p:txBody>
      </p:sp>
      <p:sp>
        <p:nvSpPr>
          <p:cNvPr id="6" name="Rectangle 5"/>
          <p:cNvSpPr/>
          <p:nvPr/>
        </p:nvSpPr>
        <p:spPr>
          <a:xfrm>
            <a:off x="3779912" y="1218825"/>
            <a:ext cx="1263313" cy="3784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CA" sz="1400" dirty="0" smtClean="0"/>
              <a:t>data source</a:t>
            </a:r>
            <a:endParaRPr lang="en-CA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149623" y="1218825"/>
            <a:ext cx="919980" cy="3784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CA" dirty="0"/>
              <a:t>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7844" y="1218825"/>
            <a:ext cx="919980" cy="3784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CA" dirty="0"/>
              <a:t>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6127" y="1218825"/>
            <a:ext cx="1331475" cy="3784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CA" dirty="0" err="1"/>
              <a:t>RESTFul</a:t>
            </a:r>
            <a:r>
              <a:rPr lang="en-CA" dirty="0"/>
              <a:t> </a:t>
            </a:r>
            <a:r>
              <a:rPr lang="en-CA" dirty="0" smtClean="0"/>
              <a:t>Service</a:t>
            </a:r>
            <a:endParaRPr lang="en-CA" dirty="0"/>
          </a:p>
        </p:txBody>
      </p:sp>
      <p:sp>
        <p:nvSpPr>
          <p:cNvPr id="18" name="TextBox 17"/>
          <p:cNvSpPr txBox="1"/>
          <p:nvPr/>
        </p:nvSpPr>
        <p:spPr>
          <a:xfrm>
            <a:off x="7180412" y="1218118"/>
            <a:ext cx="919980" cy="3784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CA" dirty="0" smtClean="0"/>
              <a:t>Validators</a:t>
            </a:r>
            <a:endParaRPr lang="en-CA" dirty="0"/>
          </a:p>
        </p:txBody>
      </p:sp>
      <p:cxnSp>
        <p:nvCxnSpPr>
          <p:cNvPr id="23" name="Straight Connector 22"/>
          <p:cNvCxnSpPr>
            <a:stCxn id="7" idx="2"/>
          </p:cNvCxnSpPr>
          <p:nvPr/>
        </p:nvCxnSpPr>
        <p:spPr>
          <a:xfrm>
            <a:off x="609613" y="1597249"/>
            <a:ext cx="0" cy="44240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6" idx="2"/>
          </p:cNvCxnSpPr>
          <p:nvPr/>
        </p:nvCxnSpPr>
        <p:spPr>
          <a:xfrm>
            <a:off x="2527834" y="1597249"/>
            <a:ext cx="44066" cy="44240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455508" y="1588865"/>
            <a:ext cx="44066" cy="44240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428518" y="1588866"/>
            <a:ext cx="44066" cy="44240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633180" y="1588866"/>
            <a:ext cx="44066" cy="44240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357323" y="1828549"/>
            <a:ext cx="2159421" cy="602163"/>
            <a:chOff x="357323" y="1828549"/>
            <a:chExt cx="2159421" cy="602163"/>
          </a:xfrm>
        </p:grpSpPr>
        <p:sp>
          <p:nvSpPr>
            <p:cNvPr id="36" name="TextBox 35"/>
            <p:cNvSpPr txBox="1"/>
            <p:nvPr/>
          </p:nvSpPr>
          <p:spPr>
            <a:xfrm>
              <a:off x="357323" y="2061380"/>
              <a:ext cx="2105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 smtClean="0"/>
                <a:t>read case from excel</a:t>
              </a:r>
              <a:endParaRPr lang="en-CA" dirty="0"/>
            </a:p>
          </p:txBody>
        </p:sp>
        <p:sp>
          <p:nvSpPr>
            <p:cNvPr id="68" name="Right Arrow 67"/>
            <p:cNvSpPr/>
            <p:nvPr/>
          </p:nvSpPr>
          <p:spPr>
            <a:xfrm>
              <a:off x="640511" y="1828549"/>
              <a:ext cx="1876233" cy="210639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6200000" scaled="0"/>
              <a:tileRect/>
            </a:gradFill>
            <a:ln w="38100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CA" dirty="0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209650" y="2416199"/>
            <a:ext cx="4245857" cy="535129"/>
            <a:chOff x="209650" y="2416199"/>
            <a:chExt cx="4245857" cy="535129"/>
          </a:xfrm>
        </p:grpSpPr>
        <p:sp>
          <p:nvSpPr>
            <p:cNvPr id="39" name="TextBox 38"/>
            <p:cNvSpPr txBox="1"/>
            <p:nvPr/>
          </p:nvSpPr>
          <p:spPr>
            <a:xfrm>
              <a:off x="209650" y="2581996"/>
              <a:ext cx="4030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 smtClean="0"/>
                <a:t>read external data referenced in this case</a:t>
              </a:r>
              <a:endParaRPr lang="en-CA" dirty="0"/>
            </a:p>
          </p:txBody>
        </p:sp>
        <p:sp>
          <p:nvSpPr>
            <p:cNvPr id="69" name="Right Arrow 68"/>
            <p:cNvSpPr/>
            <p:nvPr/>
          </p:nvSpPr>
          <p:spPr>
            <a:xfrm>
              <a:off x="609612" y="2416199"/>
              <a:ext cx="3845895" cy="194123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6200000" scaled="0"/>
              <a:tileRect/>
            </a:gradFill>
            <a:ln w="38100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CA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09613" y="2973520"/>
            <a:ext cx="3229292" cy="764400"/>
            <a:chOff x="609613" y="2973520"/>
            <a:chExt cx="3229292" cy="764400"/>
          </a:xfrm>
        </p:grpSpPr>
        <p:sp>
          <p:nvSpPr>
            <p:cNvPr id="67" name="Curved Left Arrow 66"/>
            <p:cNvSpPr/>
            <p:nvPr/>
          </p:nvSpPr>
          <p:spPr>
            <a:xfrm>
              <a:off x="609613" y="2973520"/>
              <a:ext cx="625137" cy="764400"/>
            </a:xfrm>
            <a:prstGeom prst="curvedLeftArrow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6200000" scaled="0"/>
              <a:tileRect/>
            </a:gradFill>
            <a:ln w="38100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288078" y="3200644"/>
              <a:ext cx="2550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 smtClean="0"/>
                <a:t>create </a:t>
              </a:r>
              <a:r>
                <a:rPr lang="en-CA" dirty="0" err="1" smtClean="0"/>
                <a:t>url</a:t>
              </a:r>
              <a:r>
                <a:rPr lang="en-CA" dirty="0" smtClean="0"/>
                <a:t> and </a:t>
              </a:r>
              <a:r>
                <a:rPr lang="en-CA" dirty="0" err="1" smtClean="0"/>
                <a:t>expections</a:t>
              </a:r>
              <a:endParaRPr lang="en-CA" dirty="0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620704" y="3936307"/>
            <a:ext cx="5807813" cy="548942"/>
            <a:chOff x="620704" y="3936307"/>
            <a:chExt cx="5807813" cy="548942"/>
          </a:xfrm>
        </p:grpSpPr>
        <p:sp>
          <p:nvSpPr>
            <p:cNvPr id="71" name="Right Arrow 70"/>
            <p:cNvSpPr/>
            <p:nvPr/>
          </p:nvSpPr>
          <p:spPr>
            <a:xfrm>
              <a:off x="620704" y="3936307"/>
              <a:ext cx="5807813" cy="212774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6200000" scaled="0"/>
              <a:tileRect/>
            </a:gradFill>
            <a:ln w="38100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CA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295434" y="4115917"/>
              <a:ext cx="859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 smtClean="0"/>
                <a:t>call API</a:t>
              </a:r>
              <a:endParaRPr lang="en-CA" dirty="0"/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609613" y="4706402"/>
            <a:ext cx="7067633" cy="573755"/>
            <a:chOff x="609613" y="4706402"/>
            <a:chExt cx="7067633" cy="573755"/>
          </a:xfrm>
        </p:grpSpPr>
        <p:sp>
          <p:nvSpPr>
            <p:cNvPr id="73" name="Right Arrow 72"/>
            <p:cNvSpPr/>
            <p:nvPr/>
          </p:nvSpPr>
          <p:spPr>
            <a:xfrm>
              <a:off x="609613" y="4706402"/>
              <a:ext cx="7067633" cy="229014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6200000" scaled="0"/>
              <a:tileRect/>
            </a:gradFill>
            <a:ln w="38100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CA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068899" y="4910825"/>
              <a:ext cx="19158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 smtClean="0"/>
                <a:t>validate test result</a:t>
              </a:r>
              <a:endParaRPr lang="en-CA" dirty="0"/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609614" y="5688863"/>
            <a:ext cx="1962286" cy="589503"/>
            <a:chOff x="609614" y="5688863"/>
            <a:chExt cx="1962286" cy="589503"/>
          </a:xfrm>
        </p:grpSpPr>
        <p:sp>
          <p:nvSpPr>
            <p:cNvPr id="75" name="Right Arrow 74"/>
            <p:cNvSpPr/>
            <p:nvPr/>
          </p:nvSpPr>
          <p:spPr>
            <a:xfrm>
              <a:off x="609614" y="5688863"/>
              <a:ext cx="1962286" cy="210222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6200000" scaled="0"/>
              <a:tileRect/>
            </a:gradFill>
            <a:ln w="38100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CA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22736" y="5909034"/>
              <a:ext cx="12595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 smtClean="0"/>
                <a:t>write result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27203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08920"/>
            <a:ext cx="8229600" cy="1143000"/>
          </a:xfrm>
        </p:spPr>
        <p:txBody>
          <a:bodyPr/>
          <a:lstStyle/>
          <a:p>
            <a:pPr algn="ctr"/>
            <a:r>
              <a:rPr lang="en-CA" sz="6600" dirty="0" smtClean="0"/>
              <a:t>Usage</a:t>
            </a:r>
            <a:endParaRPr lang="en-CA" sz="6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15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467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3669"/>
          </a:xfrm>
        </p:spPr>
        <p:txBody>
          <a:bodyPr/>
          <a:lstStyle/>
          <a:p>
            <a:r>
              <a:rPr lang="en-CA" dirty="0" smtClean="0"/>
              <a:t>Starting Test from </a:t>
            </a:r>
            <a:r>
              <a:rPr lang="en-CA" dirty="0" err="1" smtClean="0"/>
              <a:t>JUnit</a:t>
            </a:r>
            <a:r>
              <a:rPr lang="en-CA" dirty="0" smtClean="0"/>
              <a:t> </a:t>
            </a:r>
            <a:r>
              <a:rPr lang="en-CA" dirty="0" err="1" smtClean="0"/>
              <a:t>Framwork</a:t>
            </a:r>
            <a:r>
              <a:rPr lang="en-CA" dirty="0" smtClean="0"/>
              <a:t>	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3" y="1628800"/>
            <a:ext cx="7704856" cy="1656184"/>
          </a:xfrm>
          <a:solidFill>
            <a:schemeClr val="accent5"/>
          </a:solidFill>
        </p:spPr>
        <p:txBody>
          <a:bodyPr/>
          <a:lstStyle/>
          <a:p>
            <a:r>
              <a:rPr lang="en-CA" sz="3200" dirty="0">
                <a:latin typeface="Cordia New" panose="020B0304020202020204" pitchFamily="34" charset="-34"/>
                <a:cs typeface="Cordia New" panose="020B0304020202020204" pitchFamily="34" charset="-34"/>
              </a:rPr>
              <a:t>@</a:t>
            </a:r>
            <a:r>
              <a:rPr lang="en-CA" sz="32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RunWith</a:t>
            </a:r>
            <a:r>
              <a:rPr lang="en-CA" sz="3200" dirty="0">
                <a:latin typeface="Cordia New" panose="020B0304020202020204" pitchFamily="34" charset="-34"/>
                <a:cs typeface="Cordia New" panose="020B0304020202020204" pitchFamily="34" charset="-34"/>
              </a:rPr>
              <a:t>(</a:t>
            </a:r>
            <a:r>
              <a:rPr lang="en-CA" sz="32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SuiteRunner.</a:t>
            </a:r>
            <a:r>
              <a:rPr lang="en-CA" sz="32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class</a:t>
            </a:r>
            <a:r>
              <a:rPr lang="en-CA" sz="3200" b="1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  <a:br>
              <a:rPr lang="en-CA" sz="3200" b="1" dirty="0" smtClean="0"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en-CA" sz="32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@</a:t>
            </a:r>
            <a:r>
              <a:rPr lang="en-CA" sz="32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ResourceFiles</a:t>
            </a:r>
            <a:r>
              <a:rPr lang="en-CA" sz="32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("</a:t>
            </a:r>
            <a:r>
              <a:rPr lang="en-CA" sz="32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vstb_resources</a:t>
            </a:r>
            <a:r>
              <a:rPr lang="en-CA" sz="3200" dirty="0">
                <a:latin typeface="Cordia New" panose="020B0304020202020204" pitchFamily="34" charset="-34"/>
                <a:cs typeface="Cordia New" panose="020B0304020202020204" pitchFamily="34" charset="-34"/>
              </a:rPr>
              <a:t>/testcases.xlsx</a:t>
            </a:r>
            <a:r>
              <a:rPr lang="en-CA" sz="32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")</a:t>
            </a:r>
            <a:endParaRPr lang="en-CA" sz="3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CA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public class </a:t>
            </a:r>
            <a:r>
              <a:rPr lang="en-CA" sz="32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RunnerTest</a:t>
            </a:r>
            <a:r>
              <a:rPr lang="en-CA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CA" sz="3200" b="1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{}</a:t>
            </a:r>
            <a:endParaRPr lang="en-CA" sz="3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16</a:t>
            </a:fld>
            <a:endParaRPr lang="en-US" sz="1400"/>
          </a:p>
        </p:txBody>
      </p:sp>
      <p:sp>
        <p:nvSpPr>
          <p:cNvPr id="5" name="Rectangle 4"/>
          <p:cNvSpPr/>
          <p:nvPr/>
        </p:nvSpPr>
        <p:spPr>
          <a:xfrm>
            <a:off x="433898" y="1153888"/>
            <a:ext cx="80985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b="1" dirty="0" smtClean="0"/>
              <a:t>Executing the test case is as simple as the following example</a:t>
            </a:r>
            <a:endParaRPr lang="en-CA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455892" y="3381427"/>
            <a:ext cx="80985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b="1" dirty="0" smtClean="0"/>
              <a:t>Resource can be in one of the following formats</a:t>
            </a:r>
            <a:endParaRPr lang="en-CA" sz="2400" b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7584" y="3939535"/>
            <a:ext cx="7726850" cy="200974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3810" indent="0" algn="l" defTabSz="457200" rtl="0" eaLnBrk="1" latinLnBrk="0" hangingPunct="1">
              <a:spcBef>
                <a:spcPct val="20000"/>
              </a:spcBef>
              <a:buFontTx/>
              <a:buNone/>
              <a:defRPr sz="2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457200" rtl="0" eaLnBrk="1" latinLnBrk="0" hangingPunct="1">
              <a:spcBef>
                <a:spcPct val="20000"/>
              </a:spcBef>
              <a:buClr>
                <a:srgbClr val="B80D0D"/>
              </a:buClr>
              <a:buSzPct val="110000"/>
              <a:buFont typeface="Wingdings" charset="2"/>
              <a:buChar char="§"/>
              <a:defRPr sz="2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3400" indent="-228600" algn="l" defTabSz="457200" rtl="0" eaLnBrk="1" latinLnBrk="0" hangingPunct="1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50000"/>
              <a:buFont typeface="Lucida Grande"/>
              <a:buChar char="►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62000" indent="-228600" algn="l" defTabSz="4572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SzPct val="60000"/>
              <a:buFont typeface="Wingdings" charset="2"/>
              <a:buChar char="u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16000" indent="-228600" algn="l" defTabSz="457200" rtl="0" eaLnBrk="1" latinLnBrk="0" hangingPunct="1">
              <a:spcBef>
                <a:spcPct val="20000"/>
              </a:spcBef>
              <a:buClr>
                <a:schemeClr val="bg1">
                  <a:lumMod val="75000"/>
                </a:schemeClr>
              </a:buClr>
              <a:buFont typeface="Arial"/>
              <a:buChar char="»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70000" indent="-228600" algn="l" defTabSz="4572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Font typeface="Arial"/>
              <a:buChar char="•"/>
              <a:defRPr sz="2000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010" indent="-457200">
              <a:buFont typeface="Wingdings" panose="05000000000000000000" pitchFamily="2" charset="2"/>
              <a:buChar char="Ø"/>
            </a:pPr>
            <a:r>
              <a:rPr lang="en-CA" sz="2400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vstb_resources</a:t>
            </a:r>
            <a:r>
              <a:rPr lang="en-CA" sz="24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/testcases.xlsx</a:t>
            </a:r>
          </a:p>
          <a:p>
            <a:pPr marL="461010" indent="-457200">
              <a:buFont typeface="Wingdings" panose="05000000000000000000" pitchFamily="2" charset="2"/>
              <a:buChar char="Ø"/>
            </a:pPr>
            <a:r>
              <a:rPr lang="en-CA" sz="2400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classpath:vstb_resources</a:t>
            </a:r>
            <a:r>
              <a:rPr lang="en-CA" sz="24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/testcases.xlsx</a:t>
            </a:r>
          </a:p>
          <a:p>
            <a:pPr marL="461010" indent="-457200">
              <a:buFont typeface="Wingdings" panose="05000000000000000000" pitchFamily="2" charset="2"/>
              <a:buChar char="Ø"/>
            </a:pPr>
            <a:r>
              <a:rPr lang="en-CA" sz="24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file:///resource_folder/vstb_resources/testcases.xlsx</a:t>
            </a:r>
          </a:p>
          <a:p>
            <a:pPr marL="461010" indent="-457200">
              <a:buFont typeface="Wingdings" panose="05000000000000000000" pitchFamily="2" charset="2"/>
              <a:buChar char="Ø"/>
            </a:pPr>
            <a:r>
              <a:rPr lang="en-CA" sz="24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http://resource_server/vstb_resources/testcases.xlsx</a:t>
            </a:r>
          </a:p>
        </p:txBody>
      </p:sp>
    </p:spTree>
    <p:extLst>
      <p:ext uri="{BB962C8B-B14F-4D97-AF65-F5344CB8AC3E}">
        <p14:creationId xmlns:p14="http://schemas.microsoft.com/office/powerpoint/2010/main" val="198126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3669"/>
          </a:xfrm>
        </p:spPr>
        <p:txBody>
          <a:bodyPr/>
          <a:lstStyle/>
          <a:p>
            <a:r>
              <a:rPr lang="en-CA" dirty="0" smtClean="0"/>
              <a:t>Starting Test from Command line	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3" y="1628800"/>
            <a:ext cx="7704856" cy="1656184"/>
          </a:xfrm>
          <a:solidFill>
            <a:schemeClr val="accent5"/>
          </a:solidFill>
        </p:spPr>
        <p:txBody>
          <a:bodyPr/>
          <a:lstStyle/>
          <a:p>
            <a:r>
              <a:rPr lang="en-CA" sz="32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java–</a:t>
            </a:r>
            <a:r>
              <a:rPr lang="en-CA" sz="3200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DresourceFolder</a:t>
            </a:r>
            <a:r>
              <a:rPr lang="en-CA" sz="32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=c:\resources –</a:t>
            </a:r>
            <a:r>
              <a:rPr lang="en-CA" sz="3200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Dhost</a:t>
            </a:r>
            <a:r>
              <a:rPr lang="en-CA" sz="3200" dirty="0">
                <a:latin typeface="Cordia New" panose="020B0304020202020204" pitchFamily="34" charset="-34"/>
                <a:cs typeface="Cordia New" panose="020B0304020202020204" pitchFamily="34" charset="-34"/>
              </a:rPr>
              <a:t>= san-dev-qpmtvx54-app-01 </a:t>
            </a:r>
            <a:r>
              <a:rPr lang="en-CA" sz="32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–</a:t>
            </a:r>
            <a:r>
              <a:rPr lang="en-CA" sz="3200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Dport</a:t>
            </a:r>
            <a:r>
              <a:rPr lang="en-CA" sz="32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=10540 </a:t>
            </a:r>
            <a:r>
              <a:rPr lang="en-CA" sz="3200" dirty="0">
                <a:latin typeface="Cordia New" panose="020B0304020202020204" pitchFamily="34" charset="-34"/>
                <a:cs typeface="Cordia New" panose="020B0304020202020204" pitchFamily="34" charset="-34"/>
              </a:rPr>
              <a:t>-jar restbot.jar </a:t>
            </a:r>
            <a:r>
              <a:rPr lang="en-CA" sz="32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testcases.xlsx</a:t>
            </a:r>
            <a:endParaRPr lang="en-CA" sz="3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17</a:t>
            </a:fld>
            <a:endParaRPr lang="en-US" sz="1400"/>
          </a:p>
        </p:txBody>
      </p:sp>
      <p:sp>
        <p:nvSpPr>
          <p:cNvPr id="5" name="Rectangle 4"/>
          <p:cNvSpPr/>
          <p:nvPr/>
        </p:nvSpPr>
        <p:spPr>
          <a:xfrm>
            <a:off x="433898" y="1153888"/>
            <a:ext cx="80985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b="1" dirty="0" smtClean="0"/>
              <a:t>Executing the test case is as simple as the following example</a:t>
            </a:r>
            <a:endParaRPr lang="en-CA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455892" y="3381427"/>
            <a:ext cx="80985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b="1" dirty="0" smtClean="0"/>
              <a:t>-D parameters are all </a:t>
            </a:r>
            <a:r>
              <a:rPr lang="en-CA" sz="2400" b="1" dirty="0" err="1" smtClean="0"/>
              <a:t>optionals</a:t>
            </a:r>
            <a:endParaRPr lang="en-CA" sz="2400" b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7584" y="3939535"/>
            <a:ext cx="7726850" cy="200974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3810" indent="0" algn="l" defTabSz="457200" rtl="0" eaLnBrk="1" latinLnBrk="0" hangingPunct="1">
              <a:spcBef>
                <a:spcPct val="20000"/>
              </a:spcBef>
              <a:buFontTx/>
              <a:buNone/>
              <a:defRPr sz="2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457200" rtl="0" eaLnBrk="1" latinLnBrk="0" hangingPunct="1">
              <a:spcBef>
                <a:spcPct val="20000"/>
              </a:spcBef>
              <a:buClr>
                <a:srgbClr val="B80D0D"/>
              </a:buClr>
              <a:buSzPct val="110000"/>
              <a:buFont typeface="Wingdings" charset="2"/>
              <a:buChar char="§"/>
              <a:defRPr sz="2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3400" indent="-228600" algn="l" defTabSz="457200" rtl="0" eaLnBrk="1" latinLnBrk="0" hangingPunct="1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50000"/>
              <a:buFont typeface="Lucida Grande"/>
              <a:buChar char="►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62000" indent="-228600" algn="l" defTabSz="4572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SzPct val="60000"/>
              <a:buFont typeface="Wingdings" charset="2"/>
              <a:buChar char="u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16000" indent="-228600" algn="l" defTabSz="457200" rtl="0" eaLnBrk="1" latinLnBrk="0" hangingPunct="1">
              <a:spcBef>
                <a:spcPct val="20000"/>
              </a:spcBef>
              <a:buClr>
                <a:schemeClr val="bg1">
                  <a:lumMod val="75000"/>
                </a:schemeClr>
              </a:buClr>
              <a:buFont typeface="Arial"/>
              <a:buChar char="»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70000" indent="-228600" algn="l" defTabSz="457200" rtl="0" eaLnBrk="1" latinLnBrk="0" hangingPunct="1">
              <a:spcBef>
                <a:spcPct val="20000"/>
              </a:spcBef>
              <a:buClr>
                <a:schemeClr val="bg1">
                  <a:lumMod val="65000"/>
                </a:schemeClr>
              </a:buClr>
              <a:buFont typeface="Arial"/>
              <a:buChar char="•"/>
              <a:defRPr sz="2000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010" indent="-457200">
              <a:buFont typeface="Wingdings" panose="05000000000000000000" pitchFamily="2" charset="2"/>
              <a:buChar char="Ø"/>
            </a:pPr>
            <a:r>
              <a:rPr lang="en-CA" sz="24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Current folder is used if </a:t>
            </a:r>
            <a:r>
              <a:rPr lang="en-CA" sz="2400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resourceFolder</a:t>
            </a:r>
            <a:r>
              <a:rPr lang="en-CA" sz="24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 parameter is not specified</a:t>
            </a:r>
          </a:p>
          <a:p>
            <a:pPr marL="461010" indent="-457200">
              <a:buFont typeface="Wingdings" panose="05000000000000000000" pitchFamily="2" charset="2"/>
              <a:buChar char="Ø"/>
            </a:pPr>
            <a:r>
              <a:rPr lang="en-CA" sz="24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-</a:t>
            </a:r>
            <a:r>
              <a:rPr lang="en-CA" sz="2400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Dhost</a:t>
            </a:r>
            <a:r>
              <a:rPr lang="en-CA" sz="24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 and –</a:t>
            </a:r>
            <a:r>
              <a:rPr lang="en-CA" sz="2400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Dport</a:t>
            </a:r>
            <a:r>
              <a:rPr lang="en-CA" sz="2400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 will override the values defined in excel file, this is very useful when using the same resource file to test different servers</a:t>
            </a:r>
          </a:p>
        </p:txBody>
      </p:sp>
    </p:spTree>
    <p:extLst>
      <p:ext uri="{BB962C8B-B14F-4D97-AF65-F5344CB8AC3E}">
        <p14:creationId xmlns:p14="http://schemas.microsoft.com/office/powerpoint/2010/main" val="3892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08920"/>
            <a:ext cx="8229600" cy="1143000"/>
          </a:xfrm>
        </p:spPr>
        <p:txBody>
          <a:bodyPr/>
          <a:lstStyle/>
          <a:p>
            <a:pPr algn="ctr"/>
            <a:r>
              <a:rPr lang="en-CA" sz="6600" dirty="0" smtClean="0"/>
              <a:t>Example</a:t>
            </a:r>
            <a:endParaRPr lang="en-CA" sz="6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18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07280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5487-7635-D244-AA2D-E322FB7D659B}" type="slidenum">
              <a:rPr lang="en-US" smtClean="0"/>
              <a:pPr/>
              <a:t>19</a:t>
            </a:fld>
            <a:endParaRPr lang="en-US" sz="140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810578"/>
              </p:ext>
            </p:extLst>
          </p:nvPr>
        </p:nvGraphicFramePr>
        <p:xfrm>
          <a:off x="2699792" y="2204864"/>
          <a:ext cx="2850595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Packager Shell Object" showAsIcon="1" r:id="rId3" imgW="1370520" imgH="865080" progId="Package">
                  <p:embed/>
                </p:oleObj>
              </mc:Choice>
              <mc:Fallback>
                <p:oleObj name="Packager Shell Object" showAsIcon="1" r:id="rId3" imgW="1370520" imgH="8650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9792" y="2204864"/>
                        <a:ext cx="2850595" cy="18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951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owerPoint Guidelines_4x3">
  <a:themeElements>
    <a:clrScheme name="QuickPlay 1">
      <a:dk1>
        <a:srgbClr val="000000"/>
      </a:dk1>
      <a:lt1>
        <a:srgbClr val="FFFFFF"/>
      </a:lt1>
      <a:dk2>
        <a:srgbClr val="B52227"/>
      </a:dk2>
      <a:lt2>
        <a:srgbClr val="000000"/>
      </a:lt2>
      <a:accent1>
        <a:srgbClr val="B3B3B3"/>
      </a:accent1>
      <a:accent2>
        <a:srgbClr val="000000"/>
      </a:accent2>
      <a:accent3>
        <a:srgbClr val="FFFFFF"/>
      </a:accent3>
      <a:accent4>
        <a:srgbClr val="666666"/>
      </a:accent4>
      <a:accent5>
        <a:srgbClr val="E6E6E6"/>
      </a:accent5>
      <a:accent6>
        <a:srgbClr val="999999"/>
      </a:accent6>
      <a:hlink>
        <a:srgbClr val="1E85A3"/>
      </a:hlink>
      <a:folHlink>
        <a:srgbClr val="2BA6C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16200000" scaled="0"/>
          <a:tileRect/>
        </a:gradFill>
        <a:ln w="38100">
          <a:solidFill>
            <a:schemeClr val="bg1"/>
          </a:solidFill>
          <a:round/>
        </a:ln>
      </a:spPr>
      <a:bodyPr rtlCol="0" anchor="ctr" anchorCtr="1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Guidelines_4x3</Template>
  <TotalTime>5227</TotalTime>
  <Words>742</Words>
  <Application>Microsoft Office PowerPoint</Application>
  <PresentationFormat>On-screen Show (4:3)</PresentationFormat>
  <Paragraphs>209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Lucida Grande</vt:lpstr>
      <vt:lpstr>Arial</vt:lpstr>
      <vt:lpstr>Calibri</vt:lpstr>
      <vt:lpstr>Cordia New</vt:lpstr>
      <vt:lpstr>Wingdings</vt:lpstr>
      <vt:lpstr>PowerPoint Guidelines_4x3</vt:lpstr>
      <vt:lpstr>Packager Shell Object</vt:lpstr>
      <vt:lpstr>RESTFul API Test Tool</vt:lpstr>
      <vt:lpstr>Concept</vt:lpstr>
      <vt:lpstr>Basic Idea</vt:lpstr>
      <vt:lpstr>Variable can be used in Test Case</vt:lpstr>
      <vt:lpstr>Response is validated in three ways</vt:lpstr>
      <vt:lpstr>Create Test Cases in Excel</vt:lpstr>
      <vt:lpstr>Test Cases in Excel – Info Sheet</vt:lpstr>
      <vt:lpstr>Info Sheet - Sample</vt:lpstr>
      <vt:lpstr>Test Cases in Excel – Test Case Sheet</vt:lpstr>
      <vt:lpstr>Test Sheet – Meta Columns</vt:lpstr>
      <vt:lpstr>Test Sheet – Result Columns</vt:lpstr>
      <vt:lpstr>Test Sheet – Parameters Columns</vt:lpstr>
      <vt:lpstr>Test Sheet – Expected Values Columns</vt:lpstr>
      <vt:lpstr>Action Sequence</vt:lpstr>
      <vt:lpstr>Usage</vt:lpstr>
      <vt:lpstr>Starting Test from JUnit Framwork </vt:lpstr>
      <vt:lpstr>Starting Test from Command line </vt:lpstr>
      <vt:lpstr>Example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Testing and Frameworks</dc:title>
  <dc:creator>Christine Chan</dc:creator>
  <cp:lastModifiedBy>Robert Xu</cp:lastModifiedBy>
  <cp:revision>209</cp:revision>
  <dcterms:created xsi:type="dcterms:W3CDTF">2014-05-13T14:58:55Z</dcterms:created>
  <dcterms:modified xsi:type="dcterms:W3CDTF">2014-07-02T14:18:59Z</dcterms:modified>
</cp:coreProperties>
</file>